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23"/>
  </p:notesMasterIdLst>
  <p:sldIdLst>
    <p:sldId id="256" r:id="rId2"/>
    <p:sldId id="273" r:id="rId3"/>
    <p:sldId id="257" r:id="rId4"/>
    <p:sldId id="258" r:id="rId5"/>
    <p:sldId id="259" r:id="rId6"/>
    <p:sldId id="260" r:id="rId7"/>
    <p:sldId id="262" r:id="rId8"/>
    <p:sldId id="282" r:id="rId9"/>
    <p:sldId id="264" r:id="rId10"/>
    <p:sldId id="283" r:id="rId11"/>
    <p:sldId id="284" r:id="rId12"/>
    <p:sldId id="285" r:id="rId13"/>
    <p:sldId id="286" r:id="rId14"/>
    <p:sldId id="287" r:id="rId15"/>
    <p:sldId id="288" r:id="rId16"/>
    <p:sldId id="289" r:id="rId17"/>
    <p:sldId id="290" r:id="rId18"/>
    <p:sldId id="291" r:id="rId19"/>
    <p:sldId id="292" r:id="rId20"/>
    <p:sldId id="269" r:id="rId21"/>
    <p:sldId id="281"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6" d="100"/>
          <a:sy n="66" d="100"/>
        </p:scale>
        <p:origin x="133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EBAF17-4ABD-4E1B-AED0-3063DA9A3FB1}"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IN"/>
        </a:p>
      </dgm:t>
    </dgm:pt>
    <dgm:pt modelId="{F70C3961-BD2C-422A-9BC9-CD5648B18ECF}">
      <dgm:prSet/>
      <dgm:spPr/>
      <dgm:t>
        <a:bodyPr/>
        <a:lstStyle/>
        <a:p>
          <a:r>
            <a:rPr lang="en-IN" dirty="0"/>
            <a:t>1.Abstract</a:t>
          </a:r>
        </a:p>
      </dgm:t>
    </dgm:pt>
    <dgm:pt modelId="{2FB2783A-37D8-443D-8900-6CC715211D7C}" type="parTrans" cxnId="{846809C6-1F01-49C0-80B3-BC522F991D65}">
      <dgm:prSet/>
      <dgm:spPr/>
      <dgm:t>
        <a:bodyPr/>
        <a:lstStyle/>
        <a:p>
          <a:endParaRPr lang="en-IN"/>
        </a:p>
      </dgm:t>
    </dgm:pt>
    <dgm:pt modelId="{45009A9F-7C49-4E1D-98FC-A12087303B3A}" type="sibTrans" cxnId="{846809C6-1F01-49C0-80B3-BC522F991D65}">
      <dgm:prSet/>
      <dgm:spPr/>
      <dgm:t>
        <a:bodyPr/>
        <a:lstStyle/>
        <a:p>
          <a:endParaRPr lang="en-IN"/>
        </a:p>
      </dgm:t>
    </dgm:pt>
    <dgm:pt modelId="{3E8FAB8A-8F5E-4A22-ACCD-4F719E54D705}">
      <dgm:prSet/>
      <dgm:spPr/>
      <dgm:t>
        <a:bodyPr/>
        <a:lstStyle/>
        <a:p>
          <a:r>
            <a:rPr lang="en-IN" dirty="0"/>
            <a:t>2.Existing System</a:t>
          </a:r>
        </a:p>
      </dgm:t>
    </dgm:pt>
    <dgm:pt modelId="{F86E1B53-DF4C-45F6-9D3D-69BFF7CC5099}" type="parTrans" cxnId="{8E8D45AF-AA2E-4A7F-B389-999E03C293E5}">
      <dgm:prSet/>
      <dgm:spPr/>
      <dgm:t>
        <a:bodyPr/>
        <a:lstStyle/>
        <a:p>
          <a:endParaRPr lang="en-IN"/>
        </a:p>
      </dgm:t>
    </dgm:pt>
    <dgm:pt modelId="{50DCF732-6B58-4593-BC1E-5AB519327521}" type="sibTrans" cxnId="{8E8D45AF-AA2E-4A7F-B389-999E03C293E5}">
      <dgm:prSet/>
      <dgm:spPr/>
      <dgm:t>
        <a:bodyPr/>
        <a:lstStyle/>
        <a:p>
          <a:endParaRPr lang="en-IN"/>
        </a:p>
      </dgm:t>
    </dgm:pt>
    <dgm:pt modelId="{C3AFC343-112E-410A-A5EE-1A1C24539CBA}">
      <dgm:prSet/>
      <dgm:spPr/>
      <dgm:t>
        <a:bodyPr/>
        <a:lstStyle/>
        <a:p>
          <a:r>
            <a:rPr lang="en-IN" dirty="0"/>
            <a:t>3.Proposed System</a:t>
          </a:r>
        </a:p>
      </dgm:t>
    </dgm:pt>
    <dgm:pt modelId="{A17C5A85-0D3F-41ED-8984-1C4D291E23DE}" type="parTrans" cxnId="{708AC92E-9643-4DD6-BF05-786A39D1845E}">
      <dgm:prSet/>
      <dgm:spPr/>
      <dgm:t>
        <a:bodyPr/>
        <a:lstStyle/>
        <a:p>
          <a:endParaRPr lang="en-IN"/>
        </a:p>
      </dgm:t>
    </dgm:pt>
    <dgm:pt modelId="{FDA249F2-21D7-4F46-9D97-7449D9CA27D0}" type="sibTrans" cxnId="{708AC92E-9643-4DD6-BF05-786A39D1845E}">
      <dgm:prSet/>
      <dgm:spPr/>
      <dgm:t>
        <a:bodyPr/>
        <a:lstStyle/>
        <a:p>
          <a:endParaRPr lang="en-IN"/>
        </a:p>
      </dgm:t>
    </dgm:pt>
    <dgm:pt modelId="{6990AF22-57AF-40DC-A920-8DF40A991DD4}">
      <dgm:prSet/>
      <dgm:spPr/>
      <dgm:t>
        <a:bodyPr/>
        <a:lstStyle/>
        <a:p>
          <a:r>
            <a:rPr lang="en-IN" dirty="0"/>
            <a:t>4.Design</a:t>
          </a:r>
        </a:p>
      </dgm:t>
    </dgm:pt>
    <dgm:pt modelId="{1A4299E7-AB21-4223-BEF0-5DC6682D33FE}" type="parTrans" cxnId="{310BBA5B-739E-4C61-9773-55F71325D478}">
      <dgm:prSet/>
      <dgm:spPr/>
      <dgm:t>
        <a:bodyPr/>
        <a:lstStyle/>
        <a:p>
          <a:endParaRPr lang="en-IN"/>
        </a:p>
      </dgm:t>
    </dgm:pt>
    <dgm:pt modelId="{3276CD8A-1435-4CDA-82F9-5AB06A62B57E}" type="sibTrans" cxnId="{310BBA5B-739E-4C61-9773-55F71325D478}">
      <dgm:prSet/>
      <dgm:spPr/>
      <dgm:t>
        <a:bodyPr/>
        <a:lstStyle/>
        <a:p>
          <a:endParaRPr lang="en-IN"/>
        </a:p>
      </dgm:t>
    </dgm:pt>
    <dgm:pt modelId="{DE1B114D-7214-4344-8E6C-3AB64FDFF236}">
      <dgm:prSet/>
      <dgm:spPr/>
      <dgm:t>
        <a:bodyPr/>
        <a:lstStyle/>
        <a:p>
          <a:r>
            <a:rPr lang="en-IN" dirty="0"/>
            <a:t>5.Implementation</a:t>
          </a:r>
        </a:p>
      </dgm:t>
    </dgm:pt>
    <dgm:pt modelId="{1F3764A7-B243-46F0-A886-A06CF3E8E138}" type="parTrans" cxnId="{E168455C-E181-4C7B-B566-F16E1D874549}">
      <dgm:prSet/>
      <dgm:spPr/>
      <dgm:t>
        <a:bodyPr/>
        <a:lstStyle/>
        <a:p>
          <a:endParaRPr lang="en-IN"/>
        </a:p>
      </dgm:t>
    </dgm:pt>
    <dgm:pt modelId="{B6F1007C-6796-4C5D-83D2-E3CC7BB501A6}" type="sibTrans" cxnId="{E168455C-E181-4C7B-B566-F16E1D874549}">
      <dgm:prSet/>
      <dgm:spPr/>
      <dgm:t>
        <a:bodyPr/>
        <a:lstStyle/>
        <a:p>
          <a:endParaRPr lang="en-IN"/>
        </a:p>
      </dgm:t>
    </dgm:pt>
    <dgm:pt modelId="{176B0AC1-1A79-4026-928D-B3CE503C438E}">
      <dgm:prSet/>
      <dgm:spPr/>
      <dgm:t>
        <a:bodyPr/>
        <a:lstStyle/>
        <a:p>
          <a:r>
            <a:rPr lang="en-IN" dirty="0"/>
            <a:t>6.Results</a:t>
          </a:r>
        </a:p>
      </dgm:t>
    </dgm:pt>
    <dgm:pt modelId="{7E44571A-5FF3-48F2-A936-3382820D30A9}" type="parTrans" cxnId="{A841FF33-C376-4EAC-BA77-65425DFB94D1}">
      <dgm:prSet/>
      <dgm:spPr/>
      <dgm:t>
        <a:bodyPr/>
        <a:lstStyle/>
        <a:p>
          <a:endParaRPr lang="en-IN"/>
        </a:p>
      </dgm:t>
    </dgm:pt>
    <dgm:pt modelId="{D6FC74DC-4200-40CD-9628-965E7AFD936B}" type="sibTrans" cxnId="{A841FF33-C376-4EAC-BA77-65425DFB94D1}">
      <dgm:prSet/>
      <dgm:spPr/>
      <dgm:t>
        <a:bodyPr/>
        <a:lstStyle/>
        <a:p>
          <a:endParaRPr lang="en-IN"/>
        </a:p>
      </dgm:t>
    </dgm:pt>
    <dgm:pt modelId="{79CE68E3-F0DC-47D8-9B6D-FFF279DE6D44}">
      <dgm:prSet/>
      <dgm:spPr/>
      <dgm:t>
        <a:bodyPr/>
        <a:lstStyle/>
        <a:p>
          <a:r>
            <a:rPr lang="en-IN"/>
            <a:t>7.Conclusion</a:t>
          </a:r>
          <a:endParaRPr lang="en-IN" dirty="0"/>
        </a:p>
      </dgm:t>
    </dgm:pt>
    <dgm:pt modelId="{2254A1EA-6254-4CD9-894C-E35C2D12A44D}" type="parTrans" cxnId="{99FD98AE-28CD-4357-B951-C9B18AC10F85}">
      <dgm:prSet/>
      <dgm:spPr/>
      <dgm:t>
        <a:bodyPr/>
        <a:lstStyle/>
        <a:p>
          <a:endParaRPr lang="en-IN"/>
        </a:p>
      </dgm:t>
    </dgm:pt>
    <dgm:pt modelId="{CA400F3A-4461-431B-AB79-530C545D9199}" type="sibTrans" cxnId="{99FD98AE-28CD-4357-B951-C9B18AC10F85}">
      <dgm:prSet/>
      <dgm:spPr/>
      <dgm:t>
        <a:bodyPr/>
        <a:lstStyle/>
        <a:p>
          <a:endParaRPr lang="en-IN"/>
        </a:p>
      </dgm:t>
    </dgm:pt>
    <dgm:pt modelId="{C26B2591-B7EC-4B94-BE8D-FE49E8415DE6}" type="pres">
      <dgm:prSet presAssocID="{6EEBAF17-4ABD-4E1B-AED0-3063DA9A3FB1}" presName="Name0" presStyleCnt="0">
        <dgm:presLayoutVars>
          <dgm:chMax/>
          <dgm:chPref val="3"/>
          <dgm:dir/>
          <dgm:animOne val="branch"/>
          <dgm:animLvl val="lvl"/>
        </dgm:presLayoutVars>
      </dgm:prSet>
      <dgm:spPr/>
    </dgm:pt>
    <dgm:pt modelId="{D30F0462-048F-4E2C-A6E1-903CE2B7FE04}" type="pres">
      <dgm:prSet presAssocID="{F70C3961-BD2C-422A-9BC9-CD5648B18ECF}" presName="composite" presStyleCnt="0"/>
      <dgm:spPr/>
    </dgm:pt>
    <dgm:pt modelId="{99CA0F32-9C87-420E-AA95-6446337B7EF9}" type="pres">
      <dgm:prSet presAssocID="{F70C3961-BD2C-422A-9BC9-CD5648B18ECF}" presName="FirstChild" presStyleLbl="revTx" presStyleIdx="0" presStyleCnt="7">
        <dgm:presLayoutVars>
          <dgm:chMax val="0"/>
          <dgm:chPref val="0"/>
          <dgm:bulletEnabled val="1"/>
        </dgm:presLayoutVars>
      </dgm:prSet>
      <dgm:spPr/>
    </dgm:pt>
    <dgm:pt modelId="{C1A93E02-B10F-4945-94F1-536AB67D71D3}" type="pres">
      <dgm:prSet presAssocID="{F70C3961-BD2C-422A-9BC9-CD5648B18ECF}" presName="Parent" presStyleLbl="alignNode1" presStyleIdx="0" presStyleCnt="7">
        <dgm:presLayoutVars>
          <dgm:chMax val="3"/>
          <dgm:chPref val="3"/>
          <dgm:bulletEnabled val="1"/>
        </dgm:presLayoutVars>
      </dgm:prSet>
      <dgm:spPr/>
    </dgm:pt>
    <dgm:pt modelId="{40622F71-6B09-4795-BBFA-838908D649EA}" type="pres">
      <dgm:prSet presAssocID="{F70C3961-BD2C-422A-9BC9-CD5648B18ECF}" presName="Accent" presStyleLbl="parChTrans1D1" presStyleIdx="0" presStyleCnt="7"/>
      <dgm:spPr/>
    </dgm:pt>
    <dgm:pt modelId="{D852AA71-72B6-40A6-8463-EE0B35079CFB}" type="pres">
      <dgm:prSet presAssocID="{45009A9F-7C49-4E1D-98FC-A12087303B3A}" presName="sibTrans" presStyleCnt="0"/>
      <dgm:spPr/>
    </dgm:pt>
    <dgm:pt modelId="{A4C286CB-4871-4681-A834-A2E7E0E84391}" type="pres">
      <dgm:prSet presAssocID="{3E8FAB8A-8F5E-4A22-ACCD-4F719E54D705}" presName="composite" presStyleCnt="0"/>
      <dgm:spPr/>
    </dgm:pt>
    <dgm:pt modelId="{A879A39F-7ED2-47BD-8DE2-7841D0C08D6F}" type="pres">
      <dgm:prSet presAssocID="{3E8FAB8A-8F5E-4A22-ACCD-4F719E54D705}" presName="FirstChild" presStyleLbl="revTx" presStyleIdx="1" presStyleCnt="7">
        <dgm:presLayoutVars>
          <dgm:chMax val="0"/>
          <dgm:chPref val="0"/>
          <dgm:bulletEnabled val="1"/>
        </dgm:presLayoutVars>
      </dgm:prSet>
      <dgm:spPr/>
    </dgm:pt>
    <dgm:pt modelId="{28009129-B97A-455D-8C28-B59010ECFEE2}" type="pres">
      <dgm:prSet presAssocID="{3E8FAB8A-8F5E-4A22-ACCD-4F719E54D705}" presName="Parent" presStyleLbl="alignNode1" presStyleIdx="1" presStyleCnt="7">
        <dgm:presLayoutVars>
          <dgm:chMax val="3"/>
          <dgm:chPref val="3"/>
          <dgm:bulletEnabled val="1"/>
        </dgm:presLayoutVars>
      </dgm:prSet>
      <dgm:spPr/>
    </dgm:pt>
    <dgm:pt modelId="{7E4A30FA-67EC-46A1-8B05-C8FD8EDA875B}" type="pres">
      <dgm:prSet presAssocID="{3E8FAB8A-8F5E-4A22-ACCD-4F719E54D705}" presName="Accent" presStyleLbl="parChTrans1D1" presStyleIdx="1" presStyleCnt="7"/>
      <dgm:spPr/>
    </dgm:pt>
    <dgm:pt modelId="{049AB04C-497C-4C7D-9B35-4EBDFDEA695A}" type="pres">
      <dgm:prSet presAssocID="{50DCF732-6B58-4593-BC1E-5AB519327521}" presName="sibTrans" presStyleCnt="0"/>
      <dgm:spPr/>
    </dgm:pt>
    <dgm:pt modelId="{B4AD2CDB-2560-4C04-9495-6D0DC58498F5}" type="pres">
      <dgm:prSet presAssocID="{C3AFC343-112E-410A-A5EE-1A1C24539CBA}" presName="composite" presStyleCnt="0"/>
      <dgm:spPr/>
    </dgm:pt>
    <dgm:pt modelId="{1B69EA91-BE9D-4C10-B284-FCFC06C06BF9}" type="pres">
      <dgm:prSet presAssocID="{C3AFC343-112E-410A-A5EE-1A1C24539CBA}" presName="FirstChild" presStyleLbl="revTx" presStyleIdx="2" presStyleCnt="7">
        <dgm:presLayoutVars>
          <dgm:chMax val="0"/>
          <dgm:chPref val="0"/>
          <dgm:bulletEnabled val="1"/>
        </dgm:presLayoutVars>
      </dgm:prSet>
      <dgm:spPr/>
    </dgm:pt>
    <dgm:pt modelId="{5E1DB90C-C93B-40A0-9FA0-3174933E3B58}" type="pres">
      <dgm:prSet presAssocID="{C3AFC343-112E-410A-A5EE-1A1C24539CBA}" presName="Parent" presStyleLbl="alignNode1" presStyleIdx="2" presStyleCnt="7">
        <dgm:presLayoutVars>
          <dgm:chMax val="3"/>
          <dgm:chPref val="3"/>
          <dgm:bulletEnabled val="1"/>
        </dgm:presLayoutVars>
      </dgm:prSet>
      <dgm:spPr/>
    </dgm:pt>
    <dgm:pt modelId="{1ECF6D49-3CA4-4729-B50E-C929BD17573E}" type="pres">
      <dgm:prSet presAssocID="{C3AFC343-112E-410A-A5EE-1A1C24539CBA}" presName="Accent" presStyleLbl="parChTrans1D1" presStyleIdx="2" presStyleCnt="7"/>
      <dgm:spPr/>
    </dgm:pt>
    <dgm:pt modelId="{625D817B-2411-4230-862E-E5879F050EEE}" type="pres">
      <dgm:prSet presAssocID="{FDA249F2-21D7-4F46-9D97-7449D9CA27D0}" presName="sibTrans" presStyleCnt="0"/>
      <dgm:spPr/>
    </dgm:pt>
    <dgm:pt modelId="{7A484565-DDB4-4047-9AFD-7F25C48ADE41}" type="pres">
      <dgm:prSet presAssocID="{6990AF22-57AF-40DC-A920-8DF40A991DD4}" presName="composite" presStyleCnt="0"/>
      <dgm:spPr/>
    </dgm:pt>
    <dgm:pt modelId="{0C4F7912-BB7F-4E49-8F50-E90D520F90B5}" type="pres">
      <dgm:prSet presAssocID="{6990AF22-57AF-40DC-A920-8DF40A991DD4}" presName="FirstChild" presStyleLbl="revTx" presStyleIdx="3" presStyleCnt="7">
        <dgm:presLayoutVars>
          <dgm:chMax val="0"/>
          <dgm:chPref val="0"/>
          <dgm:bulletEnabled val="1"/>
        </dgm:presLayoutVars>
      </dgm:prSet>
      <dgm:spPr/>
    </dgm:pt>
    <dgm:pt modelId="{D483A0F3-9D37-4558-99D4-01A97A99E396}" type="pres">
      <dgm:prSet presAssocID="{6990AF22-57AF-40DC-A920-8DF40A991DD4}" presName="Parent" presStyleLbl="alignNode1" presStyleIdx="3" presStyleCnt="7">
        <dgm:presLayoutVars>
          <dgm:chMax val="3"/>
          <dgm:chPref val="3"/>
          <dgm:bulletEnabled val="1"/>
        </dgm:presLayoutVars>
      </dgm:prSet>
      <dgm:spPr/>
    </dgm:pt>
    <dgm:pt modelId="{8D988B1D-5FAA-4340-ACC3-84A538E8507F}" type="pres">
      <dgm:prSet presAssocID="{6990AF22-57AF-40DC-A920-8DF40A991DD4}" presName="Accent" presStyleLbl="parChTrans1D1" presStyleIdx="3" presStyleCnt="7"/>
      <dgm:spPr/>
    </dgm:pt>
    <dgm:pt modelId="{0992956B-3767-4B71-A73A-ECFDD9E90A71}" type="pres">
      <dgm:prSet presAssocID="{3276CD8A-1435-4CDA-82F9-5AB06A62B57E}" presName="sibTrans" presStyleCnt="0"/>
      <dgm:spPr/>
    </dgm:pt>
    <dgm:pt modelId="{91523AEE-483D-42EA-94D4-D2822860CF18}" type="pres">
      <dgm:prSet presAssocID="{DE1B114D-7214-4344-8E6C-3AB64FDFF236}" presName="composite" presStyleCnt="0"/>
      <dgm:spPr/>
    </dgm:pt>
    <dgm:pt modelId="{79D71FE1-A03B-482E-BE0A-C82B9500DEAA}" type="pres">
      <dgm:prSet presAssocID="{DE1B114D-7214-4344-8E6C-3AB64FDFF236}" presName="FirstChild" presStyleLbl="revTx" presStyleIdx="4" presStyleCnt="7">
        <dgm:presLayoutVars>
          <dgm:chMax val="0"/>
          <dgm:chPref val="0"/>
          <dgm:bulletEnabled val="1"/>
        </dgm:presLayoutVars>
      </dgm:prSet>
      <dgm:spPr/>
    </dgm:pt>
    <dgm:pt modelId="{FA990042-F7F3-47C0-8C12-B7244837715D}" type="pres">
      <dgm:prSet presAssocID="{DE1B114D-7214-4344-8E6C-3AB64FDFF236}" presName="Parent" presStyleLbl="alignNode1" presStyleIdx="4" presStyleCnt="7">
        <dgm:presLayoutVars>
          <dgm:chMax val="3"/>
          <dgm:chPref val="3"/>
          <dgm:bulletEnabled val="1"/>
        </dgm:presLayoutVars>
      </dgm:prSet>
      <dgm:spPr/>
    </dgm:pt>
    <dgm:pt modelId="{06A133F5-3E8B-445D-B8CC-75EFB5C47B04}" type="pres">
      <dgm:prSet presAssocID="{DE1B114D-7214-4344-8E6C-3AB64FDFF236}" presName="Accent" presStyleLbl="parChTrans1D1" presStyleIdx="4" presStyleCnt="7"/>
      <dgm:spPr/>
    </dgm:pt>
    <dgm:pt modelId="{11BCD4F4-F74F-432B-8413-D7BCB13C9A2E}" type="pres">
      <dgm:prSet presAssocID="{B6F1007C-6796-4C5D-83D2-E3CC7BB501A6}" presName="sibTrans" presStyleCnt="0"/>
      <dgm:spPr/>
    </dgm:pt>
    <dgm:pt modelId="{C18BB2D4-226B-40EC-A518-138787AD68FD}" type="pres">
      <dgm:prSet presAssocID="{176B0AC1-1A79-4026-928D-B3CE503C438E}" presName="composite" presStyleCnt="0"/>
      <dgm:spPr/>
    </dgm:pt>
    <dgm:pt modelId="{5F3CC17F-450E-4E84-8C7C-4D5F9418BAB5}" type="pres">
      <dgm:prSet presAssocID="{176B0AC1-1A79-4026-928D-B3CE503C438E}" presName="FirstChild" presStyleLbl="revTx" presStyleIdx="5" presStyleCnt="7">
        <dgm:presLayoutVars>
          <dgm:chMax val="0"/>
          <dgm:chPref val="0"/>
          <dgm:bulletEnabled val="1"/>
        </dgm:presLayoutVars>
      </dgm:prSet>
      <dgm:spPr/>
    </dgm:pt>
    <dgm:pt modelId="{565FDE40-2D16-45DF-9D78-05ED59E52FD2}" type="pres">
      <dgm:prSet presAssocID="{176B0AC1-1A79-4026-928D-B3CE503C438E}" presName="Parent" presStyleLbl="alignNode1" presStyleIdx="5" presStyleCnt="7">
        <dgm:presLayoutVars>
          <dgm:chMax val="3"/>
          <dgm:chPref val="3"/>
          <dgm:bulletEnabled val="1"/>
        </dgm:presLayoutVars>
      </dgm:prSet>
      <dgm:spPr/>
    </dgm:pt>
    <dgm:pt modelId="{08FC3FA3-A7C7-46FB-8739-59B83364FA0E}" type="pres">
      <dgm:prSet presAssocID="{176B0AC1-1A79-4026-928D-B3CE503C438E}" presName="Accent" presStyleLbl="parChTrans1D1" presStyleIdx="5" presStyleCnt="7"/>
      <dgm:spPr/>
    </dgm:pt>
    <dgm:pt modelId="{60B795D0-5104-4961-B26D-B34A96F60B6B}" type="pres">
      <dgm:prSet presAssocID="{D6FC74DC-4200-40CD-9628-965E7AFD936B}" presName="sibTrans" presStyleCnt="0"/>
      <dgm:spPr/>
    </dgm:pt>
    <dgm:pt modelId="{958B67C0-58B1-4E24-B2AA-BE78EA3454FA}" type="pres">
      <dgm:prSet presAssocID="{79CE68E3-F0DC-47D8-9B6D-FFF279DE6D44}" presName="composite" presStyleCnt="0"/>
      <dgm:spPr/>
    </dgm:pt>
    <dgm:pt modelId="{C91532AC-5BA4-40B5-A2C8-F7D451768CA0}" type="pres">
      <dgm:prSet presAssocID="{79CE68E3-F0DC-47D8-9B6D-FFF279DE6D44}" presName="FirstChild" presStyleLbl="revTx" presStyleIdx="6" presStyleCnt="7">
        <dgm:presLayoutVars>
          <dgm:chMax val="0"/>
          <dgm:chPref val="0"/>
          <dgm:bulletEnabled val="1"/>
        </dgm:presLayoutVars>
      </dgm:prSet>
      <dgm:spPr/>
    </dgm:pt>
    <dgm:pt modelId="{59A9AEF3-A769-4424-AB64-065B1CEE3D88}" type="pres">
      <dgm:prSet presAssocID="{79CE68E3-F0DC-47D8-9B6D-FFF279DE6D44}" presName="Parent" presStyleLbl="alignNode1" presStyleIdx="6" presStyleCnt="7">
        <dgm:presLayoutVars>
          <dgm:chMax val="3"/>
          <dgm:chPref val="3"/>
          <dgm:bulletEnabled val="1"/>
        </dgm:presLayoutVars>
      </dgm:prSet>
      <dgm:spPr/>
    </dgm:pt>
    <dgm:pt modelId="{57109176-712F-443B-A996-8C0E347DB78F}" type="pres">
      <dgm:prSet presAssocID="{79CE68E3-F0DC-47D8-9B6D-FFF279DE6D44}" presName="Accent" presStyleLbl="parChTrans1D1" presStyleIdx="6" presStyleCnt="7"/>
      <dgm:spPr/>
    </dgm:pt>
  </dgm:ptLst>
  <dgm:cxnLst>
    <dgm:cxn modelId="{76B70D00-241A-451F-80EF-422268CB8D99}" type="presOf" srcId="{6990AF22-57AF-40DC-A920-8DF40A991DD4}" destId="{D483A0F3-9D37-4558-99D4-01A97A99E396}" srcOrd="0" destOrd="0" presId="urn:microsoft.com/office/officeart/2011/layout/TabList"/>
    <dgm:cxn modelId="{86346406-391E-4C6D-B56D-41E8ED632534}" type="presOf" srcId="{C3AFC343-112E-410A-A5EE-1A1C24539CBA}" destId="{5E1DB90C-C93B-40A0-9FA0-3174933E3B58}" srcOrd="0" destOrd="0" presId="urn:microsoft.com/office/officeart/2011/layout/TabList"/>
    <dgm:cxn modelId="{708AC92E-9643-4DD6-BF05-786A39D1845E}" srcId="{6EEBAF17-4ABD-4E1B-AED0-3063DA9A3FB1}" destId="{C3AFC343-112E-410A-A5EE-1A1C24539CBA}" srcOrd="2" destOrd="0" parTransId="{A17C5A85-0D3F-41ED-8984-1C4D291E23DE}" sibTransId="{FDA249F2-21D7-4F46-9D97-7449D9CA27D0}"/>
    <dgm:cxn modelId="{A841FF33-C376-4EAC-BA77-65425DFB94D1}" srcId="{6EEBAF17-4ABD-4E1B-AED0-3063DA9A3FB1}" destId="{176B0AC1-1A79-4026-928D-B3CE503C438E}" srcOrd="5" destOrd="0" parTransId="{7E44571A-5FF3-48F2-A936-3382820D30A9}" sibTransId="{D6FC74DC-4200-40CD-9628-965E7AFD936B}"/>
    <dgm:cxn modelId="{310BBA5B-739E-4C61-9773-55F71325D478}" srcId="{6EEBAF17-4ABD-4E1B-AED0-3063DA9A3FB1}" destId="{6990AF22-57AF-40DC-A920-8DF40A991DD4}" srcOrd="3" destOrd="0" parTransId="{1A4299E7-AB21-4223-BEF0-5DC6682D33FE}" sibTransId="{3276CD8A-1435-4CDA-82F9-5AB06A62B57E}"/>
    <dgm:cxn modelId="{E168455C-E181-4C7B-B566-F16E1D874549}" srcId="{6EEBAF17-4ABD-4E1B-AED0-3063DA9A3FB1}" destId="{DE1B114D-7214-4344-8E6C-3AB64FDFF236}" srcOrd="4" destOrd="0" parTransId="{1F3764A7-B243-46F0-A886-A06CF3E8E138}" sibTransId="{B6F1007C-6796-4C5D-83D2-E3CC7BB501A6}"/>
    <dgm:cxn modelId="{545F4342-A3BD-4303-844C-C4B758DB1F74}" type="presOf" srcId="{DE1B114D-7214-4344-8E6C-3AB64FDFF236}" destId="{FA990042-F7F3-47C0-8C12-B7244837715D}" srcOrd="0" destOrd="0" presId="urn:microsoft.com/office/officeart/2011/layout/TabList"/>
    <dgm:cxn modelId="{4C76E791-B9D6-4B5F-AC68-3A1A01F8BF66}" type="presOf" srcId="{176B0AC1-1A79-4026-928D-B3CE503C438E}" destId="{565FDE40-2D16-45DF-9D78-05ED59E52FD2}" srcOrd="0" destOrd="0" presId="urn:microsoft.com/office/officeart/2011/layout/TabList"/>
    <dgm:cxn modelId="{99FD98AE-28CD-4357-B951-C9B18AC10F85}" srcId="{6EEBAF17-4ABD-4E1B-AED0-3063DA9A3FB1}" destId="{79CE68E3-F0DC-47D8-9B6D-FFF279DE6D44}" srcOrd="6" destOrd="0" parTransId="{2254A1EA-6254-4CD9-894C-E35C2D12A44D}" sibTransId="{CA400F3A-4461-431B-AB79-530C545D9199}"/>
    <dgm:cxn modelId="{8E8D45AF-AA2E-4A7F-B389-999E03C293E5}" srcId="{6EEBAF17-4ABD-4E1B-AED0-3063DA9A3FB1}" destId="{3E8FAB8A-8F5E-4A22-ACCD-4F719E54D705}" srcOrd="1" destOrd="0" parTransId="{F86E1B53-DF4C-45F6-9D3D-69BFF7CC5099}" sibTransId="{50DCF732-6B58-4593-BC1E-5AB519327521}"/>
    <dgm:cxn modelId="{538790BC-45AB-4CF3-8C55-828FD34D94ED}" type="presOf" srcId="{3E8FAB8A-8F5E-4A22-ACCD-4F719E54D705}" destId="{28009129-B97A-455D-8C28-B59010ECFEE2}" srcOrd="0" destOrd="0" presId="urn:microsoft.com/office/officeart/2011/layout/TabList"/>
    <dgm:cxn modelId="{0BA04DC2-101E-4EBA-8289-17C84D8C4A3C}" type="presOf" srcId="{F70C3961-BD2C-422A-9BC9-CD5648B18ECF}" destId="{C1A93E02-B10F-4945-94F1-536AB67D71D3}" srcOrd="0" destOrd="0" presId="urn:microsoft.com/office/officeart/2011/layout/TabList"/>
    <dgm:cxn modelId="{846809C6-1F01-49C0-80B3-BC522F991D65}" srcId="{6EEBAF17-4ABD-4E1B-AED0-3063DA9A3FB1}" destId="{F70C3961-BD2C-422A-9BC9-CD5648B18ECF}" srcOrd="0" destOrd="0" parTransId="{2FB2783A-37D8-443D-8900-6CC715211D7C}" sibTransId="{45009A9F-7C49-4E1D-98FC-A12087303B3A}"/>
    <dgm:cxn modelId="{763568DA-6AE9-4690-91EE-08B51E6C2BDD}" type="presOf" srcId="{6EEBAF17-4ABD-4E1B-AED0-3063DA9A3FB1}" destId="{C26B2591-B7EC-4B94-BE8D-FE49E8415DE6}" srcOrd="0" destOrd="0" presId="urn:microsoft.com/office/officeart/2011/layout/TabList"/>
    <dgm:cxn modelId="{F74D3FFA-99E7-4636-8094-CFA48CDFCF7D}" type="presOf" srcId="{79CE68E3-F0DC-47D8-9B6D-FFF279DE6D44}" destId="{59A9AEF3-A769-4424-AB64-065B1CEE3D88}" srcOrd="0" destOrd="0" presId="urn:microsoft.com/office/officeart/2011/layout/TabList"/>
    <dgm:cxn modelId="{3C3747B1-4D59-4CA0-8509-453677F88D7A}" type="presParOf" srcId="{C26B2591-B7EC-4B94-BE8D-FE49E8415DE6}" destId="{D30F0462-048F-4E2C-A6E1-903CE2B7FE04}" srcOrd="0" destOrd="0" presId="urn:microsoft.com/office/officeart/2011/layout/TabList"/>
    <dgm:cxn modelId="{EDE13951-1ADC-4E13-80F1-5E27BEADD502}" type="presParOf" srcId="{D30F0462-048F-4E2C-A6E1-903CE2B7FE04}" destId="{99CA0F32-9C87-420E-AA95-6446337B7EF9}" srcOrd="0" destOrd="0" presId="urn:microsoft.com/office/officeart/2011/layout/TabList"/>
    <dgm:cxn modelId="{73343DDC-BE1B-421B-98A7-EE1DEDD857CD}" type="presParOf" srcId="{D30F0462-048F-4E2C-A6E1-903CE2B7FE04}" destId="{C1A93E02-B10F-4945-94F1-536AB67D71D3}" srcOrd="1" destOrd="0" presId="urn:microsoft.com/office/officeart/2011/layout/TabList"/>
    <dgm:cxn modelId="{643311FD-BCD3-42CF-A272-1CFE2C900BC2}" type="presParOf" srcId="{D30F0462-048F-4E2C-A6E1-903CE2B7FE04}" destId="{40622F71-6B09-4795-BBFA-838908D649EA}" srcOrd="2" destOrd="0" presId="urn:microsoft.com/office/officeart/2011/layout/TabList"/>
    <dgm:cxn modelId="{8DA8D3A3-922B-4F3E-A4AE-5924931AB046}" type="presParOf" srcId="{C26B2591-B7EC-4B94-BE8D-FE49E8415DE6}" destId="{D852AA71-72B6-40A6-8463-EE0B35079CFB}" srcOrd="1" destOrd="0" presId="urn:microsoft.com/office/officeart/2011/layout/TabList"/>
    <dgm:cxn modelId="{21397385-D475-41B6-94F4-B87E30F26285}" type="presParOf" srcId="{C26B2591-B7EC-4B94-BE8D-FE49E8415DE6}" destId="{A4C286CB-4871-4681-A834-A2E7E0E84391}" srcOrd="2" destOrd="0" presId="urn:microsoft.com/office/officeart/2011/layout/TabList"/>
    <dgm:cxn modelId="{122394E1-1A6F-47E4-B0AA-78CC3C01C52A}" type="presParOf" srcId="{A4C286CB-4871-4681-A834-A2E7E0E84391}" destId="{A879A39F-7ED2-47BD-8DE2-7841D0C08D6F}" srcOrd="0" destOrd="0" presId="urn:microsoft.com/office/officeart/2011/layout/TabList"/>
    <dgm:cxn modelId="{145E6CE6-852D-4EA6-8B19-336BAC26DBC6}" type="presParOf" srcId="{A4C286CB-4871-4681-A834-A2E7E0E84391}" destId="{28009129-B97A-455D-8C28-B59010ECFEE2}" srcOrd="1" destOrd="0" presId="urn:microsoft.com/office/officeart/2011/layout/TabList"/>
    <dgm:cxn modelId="{2C6D8591-AEF0-4940-ACAF-7D78DFD5BF94}" type="presParOf" srcId="{A4C286CB-4871-4681-A834-A2E7E0E84391}" destId="{7E4A30FA-67EC-46A1-8B05-C8FD8EDA875B}" srcOrd="2" destOrd="0" presId="urn:microsoft.com/office/officeart/2011/layout/TabList"/>
    <dgm:cxn modelId="{D2CFD326-F74F-48C4-A1E4-8026C27CC4DA}" type="presParOf" srcId="{C26B2591-B7EC-4B94-BE8D-FE49E8415DE6}" destId="{049AB04C-497C-4C7D-9B35-4EBDFDEA695A}" srcOrd="3" destOrd="0" presId="urn:microsoft.com/office/officeart/2011/layout/TabList"/>
    <dgm:cxn modelId="{0DB937F6-DDDF-42E4-AD6E-1A7CADCAC805}" type="presParOf" srcId="{C26B2591-B7EC-4B94-BE8D-FE49E8415DE6}" destId="{B4AD2CDB-2560-4C04-9495-6D0DC58498F5}" srcOrd="4" destOrd="0" presId="urn:microsoft.com/office/officeart/2011/layout/TabList"/>
    <dgm:cxn modelId="{EC938DA2-879D-4731-BA12-C15A2E1AF4E3}" type="presParOf" srcId="{B4AD2CDB-2560-4C04-9495-6D0DC58498F5}" destId="{1B69EA91-BE9D-4C10-B284-FCFC06C06BF9}" srcOrd="0" destOrd="0" presId="urn:microsoft.com/office/officeart/2011/layout/TabList"/>
    <dgm:cxn modelId="{06E2B0FA-087D-4859-9833-C8FE823D53E5}" type="presParOf" srcId="{B4AD2CDB-2560-4C04-9495-6D0DC58498F5}" destId="{5E1DB90C-C93B-40A0-9FA0-3174933E3B58}" srcOrd="1" destOrd="0" presId="urn:microsoft.com/office/officeart/2011/layout/TabList"/>
    <dgm:cxn modelId="{ED843CDE-B7A4-4060-9EBA-7CC32EBD1CC7}" type="presParOf" srcId="{B4AD2CDB-2560-4C04-9495-6D0DC58498F5}" destId="{1ECF6D49-3CA4-4729-B50E-C929BD17573E}" srcOrd="2" destOrd="0" presId="urn:microsoft.com/office/officeart/2011/layout/TabList"/>
    <dgm:cxn modelId="{FF331A5B-4B38-4FDC-8B7F-05C6223BD977}" type="presParOf" srcId="{C26B2591-B7EC-4B94-BE8D-FE49E8415DE6}" destId="{625D817B-2411-4230-862E-E5879F050EEE}" srcOrd="5" destOrd="0" presId="urn:microsoft.com/office/officeart/2011/layout/TabList"/>
    <dgm:cxn modelId="{C4D72C38-DE24-4387-83B0-31DB84561B0D}" type="presParOf" srcId="{C26B2591-B7EC-4B94-BE8D-FE49E8415DE6}" destId="{7A484565-DDB4-4047-9AFD-7F25C48ADE41}" srcOrd="6" destOrd="0" presId="urn:microsoft.com/office/officeart/2011/layout/TabList"/>
    <dgm:cxn modelId="{D5403E78-3E9D-49BE-9412-AB1B3CBF5A1F}" type="presParOf" srcId="{7A484565-DDB4-4047-9AFD-7F25C48ADE41}" destId="{0C4F7912-BB7F-4E49-8F50-E90D520F90B5}" srcOrd="0" destOrd="0" presId="urn:microsoft.com/office/officeart/2011/layout/TabList"/>
    <dgm:cxn modelId="{FDAC1214-8F9F-4054-999A-29FB2C02D9F3}" type="presParOf" srcId="{7A484565-DDB4-4047-9AFD-7F25C48ADE41}" destId="{D483A0F3-9D37-4558-99D4-01A97A99E396}" srcOrd="1" destOrd="0" presId="urn:microsoft.com/office/officeart/2011/layout/TabList"/>
    <dgm:cxn modelId="{5569CE34-112E-4AD2-A64B-E4A0A276A80A}" type="presParOf" srcId="{7A484565-DDB4-4047-9AFD-7F25C48ADE41}" destId="{8D988B1D-5FAA-4340-ACC3-84A538E8507F}" srcOrd="2" destOrd="0" presId="urn:microsoft.com/office/officeart/2011/layout/TabList"/>
    <dgm:cxn modelId="{43B903D1-BF1C-445D-94EA-2B24BFDCA6C5}" type="presParOf" srcId="{C26B2591-B7EC-4B94-BE8D-FE49E8415DE6}" destId="{0992956B-3767-4B71-A73A-ECFDD9E90A71}" srcOrd="7" destOrd="0" presId="urn:microsoft.com/office/officeart/2011/layout/TabList"/>
    <dgm:cxn modelId="{056875F0-1EAE-4EC8-A070-E5C9D185E54C}" type="presParOf" srcId="{C26B2591-B7EC-4B94-BE8D-FE49E8415DE6}" destId="{91523AEE-483D-42EA-94D4-D2822860CF18}" srcOrd="8" destOrd="0" presId="urn:microsoft.com/office/officeart/2011/layout/TabList"/>
    <dgm:cxn modelId="{302BB456-8643-411B-B8B4-28120EF78D00}" type="presParOf" srcId="{91523AEE-483D-42EA-94D4-D2822860CF18}" destId="{79D71FE1-A03B-482E-BE0A-C82B9500DEAA}" srcOrd="0" destOrd="0" presId="urn:microsoft.com/office/officeart/2011/layout/TabList"/>
    <dgm:cxn modelId="{2C32D539-CF6D-427B-BE41-B82A9007157B}" type="presParOf" srcId="{91523AEE-483D-42EA-94D4-D2822860CF18}" destId="{FA990042-F7F3-47C0-8C12-B7244837715D}" srcOrd="1" destOrd="0" presId="urn:microsoft.com/office/officeart/2011/layout/TabList"/>
    <dgm:cxn modelId="{46A93817-1FE0-4EE4-8BD9-4AEE89ECDED2}" type="presParOf" srcId="{91523AEE-483D-42EA-94D4-D2822860CF18}" destId="{06A133F5-3E8B-445D-B8CC-75EFB5C47B04}" srcOrd="2" destOrd="0" presId="urn:microsoft.com/office/officeart/2011/layout/TabList"/>
    <dgm:cxn modelId="{0C8F4EAD-7884-4256-AC51-921F80DC6630}" type="presParOf" srcId="{C26B2591-B7EC-4B94-BE8D-FE49E8415DE6}" destId="{11BCD4F4-F74F-432B-8413-D7BCB13C9A2E}" srcOrd="9" destOrd="0" presId="urn:microsoft.com/office/officeart/2011/layout/TabList"/>
    <dgm:cxn modelId="{EBD78966-376A-4F7B-BD53-AC6FC2178AA7}" type="presParOf" srcId="{C26B2591-B7EC-4B94-BE8D-FE49E8415DE6}" destId="{C18BB2D4-226B-40EC-A518-138787AD68FD}" srcOrd="10" destOrd="0" presId="urn:microsoft.com/office/officeart/2011/layout/TabList"/>
    <dgm:cxn modelId="{D3C25483-F65C-450F-BF03-332F65249218}" type="presParOf" srcId="{C18BB2D4-226B-40EC-A518-138787AD68FD}" destId="{5F3CC17F-450E-4E84-8C7C-4D5F9418BAB5}" srcOrd="0" destOrd="0" presId="urn:microsoft.com/office/officeart/2011/layout/TabList"/>
    <dgm:cxn modelId="{B5A36D93-F8F0-4F31-8A26-02F8C40D312E}" type="presParOf" srcId="{C18BB2D4-226B-40EC-A518-138787AD68FD}" destId="{565FDE40-2D16-45DF-9D78-05ED59E52FD2}" srcOrd="1" destOrd="0" presId="urn:microsoft.com/office/officeart/2011/layout/TabList"/>
    <dgm:cxn modelId="{A0A282D5-9C60-4F44-B6E2-0F04C522D5D6}" type="presParOf" srcId="{C18BB2D4-226B-40EC-A518-138787AD68FD}" destId="{08FC3FA3-A7C7-46FB-8739-59B83364FA0E}" srcOrd="2" destOrd="0" presId="urn:microsoft.com/office/officeart/2011/layout/TabList"/>
    <dgm:cxn modelId="{29A17E62-AF66-4143-AB88-4F1A76A13A84}" type="presParOf" srcId="{C26B2591-B7EC-4B94-BE8D-FE49E8415DE6}" destId="{60B795D0-5104-4961-B26D-B34A96F60B6B}" srcOrd="11" destOrd="0" presId="urn:microsoft.com/office/officeart/2011/layout/TabList"/>
    <dgm:cxn modelId="{3B21511E-53CC-4801-AA2A-1F94AD26A139}" type="presParOf" srcId="{C26B2591-B7EC-4B94-BE8D-FE49E8415DE6}" destId="{958B67C0-58B1-4E24-B2AA-BE78EA3454FA}" srcOrd="12" destOrd="0" presId="urn:microsoft.com/office/officeart/2011/layout/TabList"/>
    <dgm:cxn modelId="{A8CD6DD0-BBA7-4448-AF1B-EB62152F8D87}" type="presParOf" srcId="{958B67C0-58B1-4E24-B2AA-BE78EA3454FA}" destId="{C91532AC-5BA4-40B5-A2C8-F7D451768CA0}" srcOrd="0" destOrd="0" presId="urn:microsoft.com/office/officeart/2011/layout/TabList"/>
    <dgm:cxn modelId="{5DA7D43A-D9C8-47A9-9D4F-BDB98A6332A1}" type="presParOf" srcId="{958B67C0-58B1-4E24-B2AA-BE78EA3454FA}" destId="{59A9AEF3-A769-4424-AB64-065B1CEE3D88}" srcOrd="1" destOrd="0" presId="urn:microsoft.com/office/officeart/2011/layout/TabList"/>
    <dgm:cxn modelId="{C195A284-41DB-421B-834D-A8093BEAD2B4}" type="presParOf" srcId="{958B67C0-58B1-4E24-B2AA-BE78EA3454FA}" destId="{57109176-712F-443B-A996-8C0E347DB78F}"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109176-712F-443B-A996-8C0E347DB78F}">
      <dsp:nvSpPr>
        <dsp:cNvPr id="0" name=""/>
        <dsp:cNvSpPr/>
      </dsp:nvSpPr>
      <dsp:spPr>
        <a:xfrm>
          <a:off x="0" y="4830645"/>
          <a:ext cx="10683433" cy="0"/>
        </a:xfrm>
        <a:prstGeom prst="line">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FC3FA3-A7C7-46FB-8739-59B83364FA0E}">
      <dsp:nvSpPr>
        <dsp:cNvPr id="0" name=""/>
        <dsp:cNvSpPr/>
      </dsp:nvSpPr>
      <dsp:spPr>
        <a:xfrm>
          <a:off x="0" y="4136126"/>
          <a:ext cx="10683433" cy="0"/>
        </a:xfrm>
        <a:prstGeom prst="line">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A133F5-3E8B-445D-B8CC-75EFB5C47B04}">
      <dsp:nvSpPr>
        <dsp:cNvPr id="0" name=""/>
        <dsp:cNvSpPr/>
      </dsp:nvSpPr>
      <dsp:spPr>
        <a:xfrm>
          <a:off x="0" y="3441608"/>
          <a:ext cx="10683433" cy="0"/>
        </a:xfrm>
        <a:prstGeom prst="line">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988B1D-5FAA-4340-ACC3-84A538E8507F}">
      <dsp:nvSpPr>
        <dsp:cNvPr id="0" name=""/>
        <dsp:cNvSpPr/>
      </dsp:nvSpPr>
      <dsp:spPr>
        <a:xfrm>
          <a:off x="0" y="2747090"/>
          <a:ext cx="10683433" cy="0"/>
        </a:xfrm>
        <a:prstGeom prst="line">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CF6D49-3CA4-4729-B50E-C929BD17573E}">
      <dsp:nvSpPr>
        <dsp:cNvPr id="0" name=""/>
        <dsp:cNvSpPr/>
      </dsp:nvSpPr>
      <dsp:spPr>
        <a:xfrm>
          <a:off x="0" y="2052572"/>
          <a:ext cx="10683433" cy="0"/>
        </a:xfrm>
        <a:prstGeom prst="line">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4A30FA-67EC-46A1-8B05-C8FD8EDA875B}">
      <dsp:nvSpPr>
        <dsp:cNvPr id="0" name=""/>
        <dsp:cNvSpPr/>
      </dsp:nvSpPr>
      <dsp:spPr>
        <a:xfrm>
          <a:off x="0" y="1358054"/>
          <a:ext cx="10683433" cy="0"/>
        </a:xfrm>
        <a:prstGeom prst="line">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622F71-6B09-4795-BBFA-838908D649EA}">
      <dsp:nvSpPr>
        <dsp:cNvPr id="0" name=""/>
        <dsp:cNvSpPr/>
      </dsp:nvSpPr>
      <dsp:spPr>
        <a:xfrm>
          <a:off x="0" y="663535"/>
          <a:ext cx="10683433" cy="0"/>
        </a:xfrm>
        <a:prstGeom prst="line">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CA0F32-9C87-420E-AA95-6446337B7EF9}">
      <dsp:nvSpPr>
        <dsp:cNvPr id="0" name=""/>
        <dsp:cNvSpPr/>
      </dsp:nvSpPr>
      <dsp:spPr>
        <a:xfrm>
          <a:off x="2777692" y="2089"/>
          <a:ext cx="7905740" cy="661445"/>
        </a:xfrm>
        <a:prstGeom prst="rect">
          <a:avLst/>
        </a:prstGeom>
        <a:noFill/>
        <a:ln>
          <a:noFill/>
        </a:ln>
        <a:effectLst/>
      </dsp:spPr>
      <dsp:style>
        <a:lnRef idx="0">
          <a:scrgbClr r="0" g="0" b="0"/>
        </a:lnRef>
        <a:fillRef idx="0">
          <a:scrgbClr r="0" g="0" b="0"/>
        </a:fillRef>
        <a:effectRef idx="0">
          <a:scrgbClr r="0" g="0" b="0"/>
        </a:effectRef>
        <a:fontRef idx="minor"/>
      </dsp:style>
    </dsp:sp>
    <dsp:sp modelId="{C1A93E02-B10F-4945-94F1-536AB67D71D3}">
      <dsp:nvSpPr>
        <dsp:cNvPr id="0" name=""/>
        <dsp:cNvSpPr/>
      </dsp:nvSpPr>
      <dsp:spPr>
        <a:xfrm>
          <a:off x="0" y="2089"/>
          <a:ext cx="2777692" cy="661445"/>
        </a:xfrm>
        <a:prstGeom prst="round2SameRect">
          <a:avLst>
            <a:gd name="adj1" fmla="val 16670"/>
            <a:gd name="adj2" fmla="val 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IN" sz="2200" kern="1200" dirty="0"/>
            <a:t>1.Abstract</a:t>
          </a:r>
        </a:p>
      </dsp:txBody>
      <dsp:txXfrm>
        <a:off x="32295" y="34384"/>
        <a:ext cx="2713102" cy="629150"/>
      </dsp:txXfrm>
    </dsp:sp>
    <dsp:sp modelId="{A879A39F-7ED2-47BD-8DE2-7841D0C08D6F}">
      <dsp:nvSpPr>
        <dsp:cNvPr id="0" name=""/>
        <dsp:cNvSpPr/>
      </dsp:nvSpPr>
      <dsp:spPr>
        <a:xfrm>
          <a:off x="2777692" y="696608"/>
          <a:ext cx="7905740" cy="661445"/>
        </a:xfrm>
        <a:prstGeom prst="rect">
          <a:avLst/>
        </a:prstGeom>
        <a:noFill/>
        <a:ln>
          <a:noFill/>
        </a:ln>
        <a:effectLst/>
      </dsp:spPr>
      <dsp:style>
        <a:lnRef idx="0">
          <a:scrgbClr r="0" g="0" b="0"/>
        </a:lnRef>
        <a:fillRef idx="0">
          <a:scrgbClr r="0" g="0" b="0"/>
        </a:fillRef>
        <a:effectRef idx="0">
          <a:scrgbClr r="0" g="0" b="0"/>
        </a:effectRef>
        <a:fontRef idx="minor"/>
      </dsp:style>
    </dsp:sp>
    <dsp:sp modelId="{28009129-B97A-455D-8C28-B59010ECFEE2}">
      <dsp:nvSpPr>
        <dsp:cNvPr id="0" name=""/>
        <dsp:cNvSpPr/>
      </dsp:nvSpPr>
      <dsp:spPr>
        <a:xfrm>
          <a:off x="0" y="696608"/>
          <a:ext cx="2777692" cy="661445"/>
        </a:xfrm>
        <a:prstGeom prst="round2SameRect">
          <a:avLst>
            <a:gd name="adj1" fmla="val 16670"/>
            <a:gd name="adj2" fmla="val 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IN" sz="2200" kern="1200" dirty="0"/>
            <a:t>2.Existing System</a:t>
          </a:r>
        </a:p>
      </dsp:txBody>
      <dsp:txXfrm>
        <a:off x="32295" y="728903"/>
        <a:ext cx="2713102" cy="629150"/>
      </dsp:txXfrm>
    </dsp:sp>
    <dsp:sp modelId="{1B69EA91-BE9D-4C10-B284-FCFC06C06BF9}">
      <dsp:nvSpPr>
        <dsp:cNvPr id="0" name=""/>
        <dsp:cNvSpPr/>
      </dsp:nvSpPr>
      <dsp:spPr>
        <a:xfrm>
          <a:off x="2777692" y="1391126"/>
          <a:ext cx="7905740" cy="661445"/>
        </a:xfrm>
        <a:prstGeom prst="rect">
          <a:avLst/>
        </a:prstGeom>
        <a:noFill/>
        <a:ln>
          <a:noFill/>
        </a:ln>
        <a:effectLst/>
      </dsp:spPr>
      <dsp:style>
        <a:lnRef idx="0">
          <a:scrgbClr r="0" g="0" b="0"/>
        </a:lnRef>
        <a:fillRef idx="0">
          <a:scrgbClr r="0" g="0" b="0"/>
        </a:fillRef>
        <a:effectRef idx="0">
          <a:scrgbClr r="0" g="0" b="0"/>
        </a:effectRef>
        <a:fontRef idx="minor"/>
      </dsp:style>
    </dsp:sp>
    <dsp:sp modelId="{5E1DB90C-C93B-40A0-9FA0-3174933E3B58}">
      <dsp:nvSpPr>
        <dsp:cNvPr id="0" name=""/>
        <dsp:cNvSpPr/>
      </dsp:nvSpPr>
      <dsp:spPr>
        <a:xfrm>
          <a:off x="0" y="1391126"/>
          <a:ext cx="2777692" cy="661445"/>
        </a:xfrm>
        <a:prstGeom prst="round2SameRect">
          <a:avLst>
            <a:gd name="adj1" fmla="val 16670"/>
            <a:gd name="adj2" fmla="val 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IN" sz="2200" kern="1200" dirty="0"/>
            <a:t>3.Proposed System</a:t>
          </a:r>
        </a:p>
      </dsp:txBody>
      <dsp:txXfrm>
        <a:off x="32295" y="1423421"/>
        <a:ext cx="2713102" cy="629150"/>
      </dsp:txXfrm>
    </dsp:sp>
    <dsp:sp modelId="{0C4F7912-BB7F-4E49-8F50-E90D520F90B5}">
      <dsp:nvSpPr>
        <dsp:cNvPr id="0" name=""/>
        <dsp:cNvSpPr/>
      </dsp:nvSpPr>
      <dsp:spPr>
        <a:xfrm>
          <a:off x="2777692" y="2085644"/>
          <a:ext cx="7905740" cy="661445"/>
        </a:xfrm>
        <a:prstGeom prst="rect">
          <a:avLst/>
        </a:prstGeom>
        <a:noFill/>
        <a:ln>
          <a:noFill/>
        </a:ln>
        <a:effectLst/>
      </dsp:spPr>
      <dsp:style>
        <a:lnRef idx="0">
          <a:scrgbClr r="0" g="0" b="0"/>
        </a:lnRef>
        <a:fillRef idx="0">
          <a:scrgbClr r="0" g="0" b="0"/>
        </a:fillRef>
        <a:effectRef idx="0">
          <a:scrgbClr r="0" g="0" b="0"/>
        </a:effectRef>
        <a:fontRef idx="minor"/>
      </dsp:style>
    </dsp:sp>
    <dsp:sp modelId="{D483A0F3-9D37-4558-99D4-01A97A99E396}">
      <dsp:nvSpPr>
        <dsp:cNvPr id="0" name=""/>
        <dsp:cNvSpPr/>
      </dsp:nvSpPr>
      <dsp:spPr>
        <a:xfrm>
          <a:off x="0" y="2085644"/>
          <a:ext cx="2777692" cy="661445"/>
        </a:xfrm>
        <a:prstGeom prst="round2SameRect">
          <a:avLst>
            <a:gd name="adj1" fmla="val 16670"/>
            <a:gd name="adj2" fmla="val 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IN" sz="2200" kern="1200" dirty="0"/>
            <a:t>4.Design</a:t>
          </a:r>
        </a:p>
      </dsp:txBody>
      <dsp:txXfrm>
        <a:off x="32295" y="2117939"/>
        <a:ext cx="2713102" cy="629150"/>
      </dsp:txXfrm>
    </dsp:sp>
    <dsp:sp modelId="{79D71FE1-A03B-482E-BE0A-C82B9500DEAA}">
      <dsp:nvSpPr>
        <dsp:cNvPr id="0" name=""/>
        <dsp:cNvSpPr/>
      </dsp:nvSpPr>
      <dsp:spPr>
        <a:xfrm>
          <a:off x="2777692" y="2780162"/>
          <a:ext cx="7905740" cy="661445"/>
        </a:xfrm>
        <a:prstGeom prst="rect">
          <a:avLst/>
        </a:prstGeom>
        <a:noFill/>
        <a:ln>
          <a:noFill/>
        </a:ln>
        <a:effectLst/>
      </dsp:spPr>
      <dsp:style>
        <a:lnRef idx="0">
          <a:scrgbClr r="0" g="0" b="0"/>
        </a:lnRef>
        <a:fillRef idx="0">
          <a:scrgbClr r="0" g="0" b="0"/>
        </a:fillRef>
        <a:effectRef idx="0">
          <a:scrgbClr r="0" g="0" b="0"/>
        </a:effectRef>
        <a:fontRef idx="minor"/>
      </dsp:style>
    </dsp:sp>
    <dsp:sp modelId="{FA990042-F7F3-47C0-8C12-B7244837715D}">
      <dsp:nvSpPr>
        <dsp:cNvPr id="0" name=""/>
        <dsp:cNvSpPr/>
      </dsp:nvSpPr>
      <dsp:spPr>
        <a:xfrm>
          <a:off x="0" y="2780162"/>
          <a:ext cx="2777692" cy="661445"/>
        </a:xfrm>
        <a:prstGeom prst="round2SameRect">
          <a:avLst>
            <a:gd name="adj1" fmla="val 16670"/>
            <a:gd name="adj2" fmla="val 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IN" sz="2200" kern="1200" dirty="0"/>
            <a:t>5.Implementation</a:t>
          </a:r>
        </a:p>
      </dsp:txBody>
      <dsp:txXfrm>
        <a:off x="32295" y="2812457"/>
        <a:ext cx="2713102" cy="629150"/>
      </dsp:txXfrm>
    </dsp:sp>
    <dsp:sp modelId="{5F3CC17F-450E-4E84-8C7C-4D5F9418BAB5}">
      <dsp:nvSpPr>
        <dsp:cNvPr id="0" name=""/>
        <dsp:cNvSpPr/>
      </dsp:nvSpPr>
      <dsp:spPr>
        <a:xfrm>
          <a:off x="2777692" y="3474680"/>
          <a:ext cx="7905740" cy="661445"/>
        </a:xfrm>
        <a:prstGeom prst="rect">
          <a:avLst/>
        </a:prstGeom>
        <a:noFill/>
        <a:ln>
          <a:noFill/>
        </a:ln>
        <a:effectLst/>
      </dsp:spPr>
      <dsp:style>
        <a:lnRef idx="0">
          <a:scrgbClr r="0" g="0" b="0"/>
        </a:lnRef>
        <a:fillRef idx="0">
          <a:scrgbClr r="0" g="0" b="0"/>
        </a:fillRef>
        <a:effectRef idx="0">
          <a:scrgbClr r="0" g="0" b="0"/>
        </a:effectRef>
        <a:fontRef idx="minor"/>
      </dsp:style>
    </dsp:sp>
    <dsp:sp modelId="{565FDE40-2D16-45DF-9D78-05ED59E52FD2}">
      <dsp:nvSpPr>
        <dsp:cNvPr id="0" name=""/>
        <dsp:cNvSpPr/>
      </dsp:nvSpPr>
      <dsp:spPr>
        <a:xfrm>
          <a:off x="0" y="3474680"/>
          <a:ext cx="2777692" cy="661445"/>
        </a:xfrm>
        <a:prstGeom prst="round2SameRect">
          <a:avLst>
            <a:gd name="adj1" fmla="val 16670"/>
            <a:gd name="adj2" fmla="val 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IN" sz="2200" kern="1200" dirty="0"/>
            <a:t>6.Results</a:t>
          </a:r>
        </a:p>
      </dsp:txBody>
      <dsp:txXfrm>
        <a:off x="32295" y="3506975"/>
        <a:ext cx="2713102" cy="629150"/>
      </dsp:txXfrm>
    </dsp:sp>
    <dsp:sp modelId="{C91532AC-5BA4-40B5-A2C8-F7D451768CA0}">
      <dsp:nvSpPr>
        <dsp:cNvPr id="0" name=""/>
        <dsp:cNvSpPr/>
      </dsp:nvSpPr>
      <dsp:spPr>
        <a:xfrm>
          <a:off x="2777692" y="4169199"/>
          <a:ext cx="7905740" cy="661445"/>
        </a:xfrm>
        <a:prstGeom prst="rect">
          <a:avLst/>
        </a:prstGeom>
        <a:noFill/>
        <a:ln>
          <a:noFill/>
        </a:ln>
        <a:effectLst/>
      </dsp:spPr>
      <dsp:style>
        <a:lnRef idx="0">
          <a:scrgbClr r="0" g="0" b="0"/>
        </a:lnRef>
        <a:fillRef idx="0">
          <a:scrgbClr r="0" g="0" b="0"/>
        </a:fillRef>
        <a:effectRef idx="0">
          <a:scrgbClr r="0" g="0" b="0"/>
        </a:effectRef>
        <a:fontRef idx="minor"/>
      </dsp:style>
    </dsp:sp>
    <dsp:sp modelId="{59A9AEF3-A769-4424-AB64-065B1CEE3D88}">
      <dsp:nvSpPr>
        <dsp:cNvPr id="0" name=""/>
        <dsp:cNvSpPr/>
      </dsp:nvSpPr>
      <dsp:spPr>
        <a:xfrm>
          <a:off x="0" y="4169199"/>
          <a:ext cx="2777692" cy="661445"/>
        </a:xfrm>
        <a:prstGeom prst="round2SameRect">
          <a:avLst>
            <a:gd name="adj1" fmla="val 16670"/>
            <a:gd name="adj2" fmla="val 0"/>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IN" sz="2200" kern="1200"/>
            <a:t>7.Conclusion</a:t>
          </a:r>
          <a:endParaRPr lang="en-IN" sz="2200" kern="1200" dirty="0"/>
        </a:p>
      </dsp:txBody>
      <dsp:txXfrm>
        <a:off x="32295" y="4201494"/>
        <a:ext cx="2713102" cy="629150"/>
      </dsp:txXfrm>
    </dsp:sp>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7AC668-3145-4241-B347-85003A137B39}" type="datetimeFigureOut">
              <a:rPr lang="en-IN" smtClean="0"/>
              <a:t>20-04-2026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1DCE77-E0E0-436A-B41F-A5A5CE3E44F6}" type="slidenum">
              <a:rPr lang="en-IN" smtClean="0"/>
              <a:t>‹#›</a:t>
            </a:fld>
            <a:endParaRPr lang="en-IN"/>
          </a:p>
        </p:txBody>
      </p:sp>
    </p:spTree>
    <p:extLst>
      <p:ext uri="{BB962C8B-B14F-4D97-AF65-F5344CB8AC3E}">
        <p14:creationId xmlns:p14="http://schemas.microsoft.com/office/powerpoint/2010/main" val="1813069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1DCE77-E0E0-436A-B41F-A5A5CE3E44F6}" type="slidenum">
              <a:rPr lang="en-IN" smtClean="0"/>
              <a:t>4</a:t>
            </a:fld>
            <a:endParaRPr lang="en-IN"/>
          </a:p>
        </p:txBody>
      </p:sp>
    </p:spTree>
    <p:extLst>
      <p:ext uri="{BB962C8B-B14F-4D97-AF65-F5344CB8AC3E}">
        <p14:creationId xmlns:p14="http://schemas.microsoft.com/office/powerpoint/2010/main" val="1733901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BAE4E8-F2A8-4DB9-BE8F-583E68AFDDD9}"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911759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BAE4E8-F2A8-4DB9-BE8F-583E68AFDDD9}"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3907703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BAE4E8-F2A8-4DB9-BE8F-583E68AFDDD9}"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4003707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BAE4E8-F2A8-4DB9-BE8F-583E68AFDDD9}"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3" name="Slide Number Placeholder 5"/>
          <p:cNvSpPr>
            <a:spLocks noGrp="1"/>
          </p:cNvSpPr>
          <p:nvPr>
            <p:ph type="sldNum" sz="quarter" idx="12"/>
          </p:nvPr>
        </p:nvSpPr>
        <p:spPr>
          <a:xfrm>
            <a:off x="531812" y="787782"/>
            <a:ext cx="779767" cy="365125"/>
          </a:xfrm>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1897191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BAE4E8-F2A8-4DB9-BE8F-583E68AFDDD9}" type="datetimeFigureOut">
              <a:rPr lang="en-IN" smtClean="0"/>
              <a:t>20-04-2026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3" name="Slide Number Placeholder 5"/>
          <p:cNvSpPr>
            <a:spLocks noGrp="1"/>
          </p:cNvSpPr>
          <p:nvPr>
            <p:ph type="sldNum" sz="quarter" idx="12"/>
          </p:nvPr>
        </p:nvSpPr>
        <p:spPr>
          <a:xfrm>
            <a:off x="531812" y="787782"/>
            <a:ext cx="779767" cy="365125"/>
          </a:xfrm>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4121919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BAE4E8-F2A8-4DB9-BE8F-583E68AFDDD9}" type="datetimeFigureOut">
              <a:rPr lang="en-IN" smtClean="0"/>
              <a:t>20-04-2026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5" name="Slide Number Placeholder 4"/>
          <p:cNvSpPr>
            <a:spLocks noGrp="1"/>
          </p:cNvSpPr>
          <p:nvPr>
            <p:ph type="sldNum" sz="quarter" idx="12"/>
          </p:nvPr>
        </p:nvSpPr>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1232147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BAE4E8-F2A8-4DB9-BE8F-583E68AFDDD9}" type="datetimeFigureOut">
              <a:rPr lang="en-IN" smtClean="0"/>
              <a:t>20-04-2026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4" name="Slide Number Placeholder 3"/>
          <p:cNvSpPr>
            <a:spLocks noGrp="1"/>
          </p:cNvSpPr>
          <p:nvPr>
            <p:ph type="sldNum" sz="quarter" idx="12"/>
          </p:nvPr>
        </p:nvSpPr>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567907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BAE4E8-F2A8-4DB9-BE8F-583E68AFDDD9}"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3557370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BAE4E8-F2A8-4DB9-BE8F-583E68AFDDD9}"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398294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BAE4E8-F2A8-4DB9-BE8F-583E68AFDDD9}"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855181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BAE4E8-F2A8-4DB9-BE8F-583E68AFDDD9}"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71FAA7D3-B414-44F0-8092-87DB8705DAFB}"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72155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0BAE4E8-F2A8-4DB9-BE8F-583E68AFDDD9}"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4320199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0BAE4E8-F2A8-4DB9-BE8F-583E68AFDDD9}"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71FAA7D3-B414-44F0-8092-87DB8705DAFB}"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8696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0BAE4E8-F2A8-4DB9-BE8F-583E68AFDDD9}"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1314816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BAE4E8-F2A8-4DB9-BE8F-583E68AFDDD9}"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669066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BAE4E8-F2A8-4DB9-BE8F-583E68AFDDD9}"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71FAA7D3-B414-44F0-8092-87DB8705DAFB}" type="slidenum">
              <a:rPr lang="en-IN" smtClean="0"/>
              <a:t>‹#›</a:t>
            </a:fld>
            <a:endParaRPr lang="en-IN"/>
          </a:p>
        </p:txBody>
      </p:sp>
    </p:spTree>
    <p:extLst>
      <p:ext uri="{BB962C8B-B14F-4D97-AF65-F5344CB8AC3E}">
        <p14:creationId xmlns:p14="http://schemas.microsoft.com/office/powerpoint/2010/main" val="2317382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0BAE4E8-F2A8-4DB9-BE8F-583E68AFDDD9}" type="datetimeFigureOut">
              <a:rPr lang="en-IN" smtClean="0"/>
              <a:t>20-04-2026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1FAA7D3-B414-44F0-8092-87DB8705DAFB}" type="slidenum">
              <a:rPr lang="en-IN" smtClean="0"/>
              <a:t>‹#›</a:t>
            </a:fld>
            <a:endParaRPr lang="en-IN"/>
          </a:p>
        </p:txBody>
      </p:sp>
    </p:spTree>
    <p:extLst>
      <p:ext uri="{BB962C8B-B14F-4D97-AF65-F5344CB8AC3E}">
        <p14:creationId xmlns:p14="http://schemas.microsoft.com/office/powerpoint/2010/main" val="1121819690"/>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2E334-F642-AE6A-DB3A-CAAFF1DF31C4}"/>
              </a:ext>
            </a:extLst>
          </p:cNvPr>
          <p:cNvSpPr>
            <a:spLocks noGrp="1"/>
          </p:cNvSpPr>
          <p:nvPr>
            <p:ph type="ctrTitle"/>
          </p:nvPr>
        </p:nvSpPr>
        <p:spPr>
          <a:xfrm>
            <a:off x="1705338" y="374655"/>
            <a:ext cx="5007979" cy="6108690"/>
          </a:xfrm>
        </p:spPr>
        <p:txBody>
          <a:bodyPr>
            <a:noAutofit/>
          </a:bodyPr>
          <a:lstStyle/>
          <a:p>
            <a:r>
              <a:rPr lang="en-US" sz="4800" b="1" dirty="0">
                <a:solidFill>
                  <a:srgbClr val="000000"/>
                </a:solidFill>
                <a:latin typeface="Times New Roman Bold"/>
                <a:ea typeface="Times New Roman Bold"/>
                <a:cs typeface="Times New Roman Bold"/>
                <a:sym typeface="Times New Roman Bold"/>
              </a:rPr>
              <a:t>Smart Collaboration And Career Guidance System</a:t>
            </a:r>
            <a:endParaRPr lang="en-IN" dirty="0"/>
          </a:p>
        </p:txBody>
      </p:sp>
      <p:sp>
        <p:nvSpPr>
          <p:cNvPr id="6" name="TextBox 5">
            <a:extLst>
              <a:ext uri="{FF2B5EF4-FFF2-40B4-BE49-F238E27FC236}">
                <a16:creationId xmlns:a16="http://schemas.microsoft.com/office/drawing/2014/main" id="{2E196A01-07E1-B55B-A42D-179EF91ED8EF}"/>
              </a:ext>
            </a:extLst>
          </p:cNvPr>
          <p:cNvSpPr txBox="1"/>
          <p:nvPr/>
        </p:nvSpPr>
        <p:spPr>
          <a:xfrm>
            <a:off x="6096000" y="733930"/>
            <a:ext cx="7014257" cy="2849498"/>
          </a:xfrm>
          <a:prstGeom prst="rect">
            <a:avLst/>
          </a:prstGeom>
          <a:noFill/>
        </p:spPr>
        <p:txBody>
          <a:bodyPr wrap="square">
            <a:spAutoFit/>
          </a:bodyPr>
          <a:lstStyle/>
          <a:p>
            <a:pPr algn="l">
              <a:lnSpc>
                <a:spcPts val="4320"/>
              </a:lnSpc>
            </a:pPr>
            <a:r>
              <a:rPr lang="en-US" sz="28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Team</a:t>
            </a:r>
            <a:r>
              <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rPr>
              <a:t>:CM17</a:t>
            </a:r>
          </a:p>
          <a:p>
            <a:pPr algn="l">
              <a:lnSpc>
                <a:spcPts val="4320"/>
              </a:lnSpc>
            </a:pPr>
            <a:r>
              <a:rPr lang="en-US" sz="28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Members</a:t>
            </a:r>
            <a:r>
              <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rPr>
              <a:t>:</a:t>
            </a:r>
          </a:p>
          <a:p>
            <a:pPr>
              <a:lnSpc>
                <a:spcPts val="4320"/>
              </a:lnSpc>
            </a:pPr>
            <a:r>
              <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rPr>
              <a:t>  M. Harya Vardhan  (Y22ACM449)</a:t>
            </a:r>
          </a:p>
          <a:p>
            <a:pPr>
              <a:lnSpc>
                <a:spcPts val="4320"/>
              </a:lnSpc>
            </a:pPr>
            <a:r>
              <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rPr>
              <a:t>  V. Sudheer              (Y22ACM477)</a:t>
            </a:r>
          </a:p>
          <a:p>
            <a:pPr>
              <a:lnSpc>
                <a:spcPts val="4320"/>
              </a:lnSpc>
            </a:pPr>
            <a:r>
              <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rPr>
              <a:t>  N. Suresh Reddy     (Y22ACM457) </a:t>
            </a:r>
            <a:endParaRPr lang="en-IN" sz="2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0F35622-1620-0384-C978-8AFDA9D613BC}"/>
              </a:ext>
            </a:extLst>
          </p:cNvPr>
          <p:cNvSpPr txBox="1"/>
          <p:nvPr/>
        </p:nvSpPr>
        <p:spPr>
          <a:xfrm>
            <a:off x="6138440" y="4368641"/>
            <a:ext cx="7546694" cy="1051698"/>
          </a:xfrm>
          <a:prstGeom prst="rect">
            <a:avLst/>
          </a:prstGeom>
          <a:noFill/>
        </p:spPr>
        <p:txBody>
          <a:bodyPr wrap="square">
            <a:spAutoFit/>
          </a:bodyPr>
          <a:lstStyle/>
          <a:p>
            <a:pPr algn="l">
              <a:lnSpc>
                <a:spcPts val="3888"/>
              </a:lnSpc>
            </a:pPr>
            <a:r>
              <a:rPr lang="en-US" sz="2800" b="1" dirty="0">
                <a:solidFill>
                  <a:srgbClr val="000000"/>
                </a:solidFill>
                <a:latin typeface="Times New Roman Bold"/>
                <a:ea typeface="Times New Roman Bold"/>
                <a:cs typeface="Times New Roman Bold"/>
                <a:sym typeface="Times New Roman Bold"/>
              </a:rPr>
              <a:t>Project Guide:</a:t>
            </a:r>
            <a:r>
              <a:rPr lang="en-US" sz="2800" dirty="0">
                <a:solidFill>
                  <a:srgbClr val="000000"/>
                </a:solidFill>
                <a:latin typeface="Times New Roman"/>
                <a:ea typeface="Times New Roman"/>
                <a:cs typeface="Times New Roman"/>
                <a:sym typeface="Times New Roman"/>
              </a:rPr>
              <a:t> Mr. N. Srinivasa Rao  </a:t>
            </a:r>
          </a:p>
          <a:p>
            <a:pPr algn="l">
              <a:lnSpc>
                <a:spcPts val="3888"/>
              </a:lnSpc>
            </a:pPr>
            <a:r>
              <a:rPr lang="en-US" sz="2800" dirty="0">
                <a:solidFill>
                  <a:srgbClr val="000000"/>
                </a:solidFill>
                <a:latin typeface="Times New Roman"/>
                <a:ea typeface="Times New Roman"/>
                <a:cs typeface="Times New Roman"/>
                <a:sym typeface="Times New Roman"/>
              </a:rPr>
              <a:t>                                         Asst Professor                                                              </a:t>
            </a:r>
          </a:p>
        </p:txBody>
      </p:sp>
    </p:spTree>
    <p:extLst>
      <p:ext uri="{BB962C8B-B14F-4D97-AF65-F5344CB8AC3E}">
        <p14:creationId xmlns:p14="http://schemas.microsoft.com/office/powerpoint/2010/main" val="3372643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9A4BA-3C5A-8494-9756-33B0B71FDF58}"/>
              </a:ext>
            </a:extLst>
          </p:cNvPr>
          <p:cNvSpPr>
            <a:spLocks noGrp="1"/>
          </p:cNvSpPr>
          <p:nvPr>
            <p:ph type="title"/>
          </p:nvPr>
        </p:nvSpPr>
        <p:spPr>
          <a:xfrm>
            <a:off x="259466" y="0"/>
            <a:ext cx="10515600" cy="1325563"/>
          </a:xfrm>
        </p:spPr>
        <p:txBody>
          <a:bodyPr>
            <a:normAutofit/>
          </a:bodyPr>
          <a:lstStyle/>
          <a:p>
            <a:r>
              <a:rPr lang="en-IN" sz="3400" b="1" dirty="0">
                <a:latin typeface="Times New Roman" panose="02020603050405020304" pitchFamily="18" charset="0"/>
                <a:cs typeface="Times New Roman" panose="02020603050405020304" pitchFamily="18" charset="0"/>
              </a:rPr>
              <a:t>Table of contents</a:t>
            </a:r>
          </a:p>
        </p:txBody>
      </p:sp>
      <p:graphicFrame>
        <p:nvGraphicFramePr>
          <p:cNvPr id="4" name="Content Placeholder 3">
            <a:extLst>
              <a:ext uri="{FF2B5EF4-FFF2-40B4-BE49-F238E27FC236}">
                <a16:creationId xmlns:a16="http://schemas.microsoft.com/office/drawing/2014/main" id="{66E56138-7D77-2C34-DF96-ED2AEBA18093}"/>
              </a:ext>
            </a:extLst>
          </p:cNvPr>
          <p:cNvGraphicFramePr>
            <a:graphicFrameLocks noGrp="1"/>
          </p:cNvGraphicFramePr>
          <p:nvPr>
            <p:ph idx="1"/>
            <p:extLst>
              <p:ext uri="{D42A27DB-BD31-4B8C-83A1-F6EECF244321}">
                <p14:modId xmlns:p14="http://schemas.microsoft.com/office/powerpoint/2010/main" val="1567488244"/>
              </p:ext>
            </p:extLst>
          </p:nvPr>
        </p:nvGraphicFramePr>
        <p:xfrm>
          <a:off x="636608" y="1423686"/>
          <a:ext cx="10683433" cy="4832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9125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B3E34-41AB-D0C6-F855-9188B2F0C462}"/>
              </a:ext>
            </a:extLst>
          </p:cNvPr>
          <p:cNvSpPr>
            <a:spLocks noGrp="1"/>
          </p:cNvSpPr>
          <p:nvPr>
            <p:ph type="title"/>
          </p:nvPr>
        </p:nvSpPr>
        <p:spPr>
          <a:xfrm>
            <a:off x="2897529" y="544690"/>
            <a:ext cx="10515600" cy="1325563"/>
          </a:xfrm>
        </p:spPr>
        <p:txBody>
          <a:bodyPr>
            <a:normAutofit/>
          </a:bodyPr>
          <a:lstStyle/>
          <a:p>
            <a:r>
              <a:rPr lang="en-IN" sz="34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AFE9EE2B-D4DC-7679-12DA-D44304019A59}"/>
              </a:ext>
            </a:extLst>
          </p:cNvPr>
          <p:cNvSpPr>
            <a:spLocks noGrp="1"/>
          </p:cNvSpPr>
          <p:nvPr>
            <p:ph idx="1"/>
          </p:nvPr>
        </p:nvSpPr>
        <p:spPr>
          <a:xfrm>
            <a:off x="547869" y="1418841"/>
            <a:ext cx="11759878" cy="5167155"/>
          </a:xfrm>
        </p:spPr>
        <p:txBody>
          <a:bodyPr>
            <a:normAutofit/>
          </a:bodyPr>
          <a:lstStyle/>
          <a:p>
            <a:r>
              <a:rPr lang="en-US" dirty="0"/>
              <a:t>Students and professionals today often struggle with navigating complex career paths, finding quality mentorship, and studying effectively in isolated environments. Traditional learning systems lack personalized guidance, real-time peer interactions, and direct access to industry experts, frequently leading to skill gaps and uninformed career choices.</a:t>
            </a:r>
          </a:p>
          <a:p>
            <a:r>
              <a:rPr lang="en-US" dirty="0"/>
              <a:t>To address this, we propose the </a:t>
            </a:r>
            <a:r>
              <a:rPr lang="en-US" b="1" dirty="0"/>
              <a:t>Smart Collaboration and Career Guidance System</a:t>
            </a:r>
            <a:r>
              <a:rPr lang="en-US" dirty="0"/>
              <a:t>, a unified web-based platform bridging academic learning and professional development. It features an intelligent AI Career Bot for personalized roadmaps and answers to career queries. The system also integrates a secure, interactive mentorship module allowing users to easily connect and schedule sessions with experienced professionals.</a:t>
            </a:r>
          </a:p>
          <a:p>
            <a:r>
              <a:rPr lang="en-US" dirty="0"/>
              <a:t>Furthermore, to enhance communal learning, the platform offers dynamic study rooms for targeted, peer-to-peer collaboration and knowledge exchange. By combining intelligent virtual counseling, expert mentorship access, and real-time interaction, this ecosystem transforms traditional learning models, empowering users to build robust skills and make confident career decisions.</a:t>
            </a:r>
          </a:p>
          <a:p>
            <a:r>
              <a:rPr lang="en-US" b="1" dirty="0"/>
              <a:t>Keywords:</a:t>
            </a:r>
            <a:r>
              <a:rPr lang="en-US" dirty="0"/>
              <a:t> Career Guidance, AI Chatbot, Collaborative Learning, Mentorship Platform, Interactive Study Rooms.</a:t>
            </a:r>
          </a:p>
          <a:p>
            <a:pPr marL="0" indent="0">
              <a:buNone/>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490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F4DBB-7350-4F8C-564D-791F84843114}"/>
              </a:ext>
            </a:extLst>
          </p:cNvPr>
          <p:cNvSpPr>
            <a:spLocks noGrp="1"/>
          </p:cNvSpPr>
          <p:nvPr>
            <p:ph type="title"/>
          </p:nvPr>
        </p:nvSpPr>
        <p:spPr/>
        <p:txBody>
          <a:bodyPr>
            <a:normAutofit/>
          </a:bodyPr>
          <a:lstStyle/>
          <a:p>
            <a:r>
              <a:rPr lang="en-IN" sz="3400" b="1" dirty="0">
                <a:latin typeface="Times New Roman" panose="02020603050405020304" pitchFamily="18" charset="0"/>
                <a:cs typeface="Times New Roman" panose="02020603050405020304" pitchFamily="18" charset="0"/>
              </a:rPr>
              <a:t>Existing  System</a:t>
            </a:r>
          </a:p>
        </p:txBody>
      </p:sp>
      <p:sp>
        <p:nvSpPr>
          <p:cNvPr id="4" name="Rectangle 1">
            <a:extLst>
              <a:ext uri="{FF2B5EF4-FFF2-40B4-BE49-F238E27FC236}">
                <a16:creationId xmlns:a16="http://schemas.microsoft.com/office/drawing/2014/main" id="{EC0F95C5-EC78-545C-27D2-761FB5A4C885}"/>
              </a:ext>
            </a:extLst>
          </p:cNvPr>
          <p:cNvSpPr>
            <a:spLocks noGrp="1" noChangeArrowheads="1"/>
          </p:cNvSpPr>
          <p:nvPr>
            <p:ph idx="1"/>
          </p:nvPr>
        </p:nvSpPr>
        <p:spPr bwMode="auto">
          <a:xfrm>
            <a:off x="1401613" y="1721471"/>
            <a:ext cx="9773093" cy="4360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Scattered Platforms:</a:t>
            </a:r>
            <a:r>
              <a:rPr lang="en-US" dirty="0"/>
              <a:t> Users must juggle multiple, disjointed applications for studying, networking, and career counseling, leading to an inefficient experience.</a:t>
            </a:r>
          </a:p>
          <a:p>
            <a:r>
              <a:rPr lang="en-US" b="1" dirty="0"/>
              <a:t>Generic Career Advice:</a:t>
            </a:r>
            <a:r>
              <a:rPr lang="en-US" dirty="0"/>
              <a:t> Current systems provide static, one-size-fits-all recommendations that fail to analyze individual skills or adapt to modern industry demands.</a:t>
            </a:r>
          </a:p>
          <a:p>
            <a:r>
              <a:rPr lang="en-US" b="1" dirty="0"/>
              <a:t>Isolated Learning Environments:</a:t>
            </a:r>
            <a:r>
              <a:rPr lang="en-US" dirty="0"/>
              <a:t> Traditional online education largely lacks real-time peer-to-peer interaction, collaborative study rooms, and community engagement.</a:t>
            </a:r>
          </a:p>
          <a:p>
            <a:r>
              <a:rPr lang="en-US" b="1" dirty="0"/>
              <a:t>Difficult Mentorship Access:</a:t>
            </a:r>
            <a:r>
              <a:rPr lang="en-US" dirty="0"/>
              <a:t> Finding, verifying, and connecting with quality industry experts is challenging and lacks a streamlined scheduling or secure payment system.</a:t>
            </a:r>
          </a:p>
          <a:p>
            <a:r>
              <a:rPr lang="en-US" b="1" dirty="0"/>
              <a:t>Absence of Intelligent Guidance:</a:t>
            </a:r>
            <a:r>
              <a:rPr lang="en-US" dirty="0"/>
              <a:t> Existing tools rarely leverage Artificial Intelligence to provide instant, responsive, and personalized career </a:t>
            </a:r>
            <a:r>
              <a:rPr lang="en-US" dirty="0" err="1"/>
              <a:t>roadmapping</a:t>
            </a:r>
            <a:r>
              <a:rPr lang="en-US" dirty="0"/>
              <a:t>.</a:t>
            </a:r>
          </a:p>
          <a:p>
            <a:pPr marL="0" indent="0" eaLnBrk="0" fontAlgn="base" hangingPunct="0">
              <a:lnSpc>
                <a:spcPct val="100000"/>
              </a:lnSpc>
              <a:spcBef>
                <a:spcPct val="0"/>
              </a:spcBef>
              <a:spcAft>
                <a:spcPct val="0"/>
              </a:spcAft>
              <a:buNone/>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3726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EE03F-6566-B3F5-A493-2015D50CB997}"/>
              </a:ext>
            </a:extLst>
          </p:cNvPr>
          <p:cNvSpPr>
            <a:spLocks noGrp="1"/>
          </p:cNvSpPr>
          <p:nvPr>
            <p:ph type="title"/>
          </p:nvPr>
        </p:nvSpPr>
        <p:spPr/>
        <p:txBody>
          <a:bodyPr>
            <a:normAutofit/>
          </a:bodyPr>
          <a:lstStyle/>
          <a:p>
            <a:r>
              <a:rPr lang="en-IN" sz="3400" b="1" dirty="0">
                <a:latin typeface="Times New Roman" panose="02020603050405020304" pitchFamily="18" charset="0"/>
                <a:cs typeface="Times New Roman" panose="02020603050405020304" pitchFamily="18" charset="0"/>
              </a:rPr>
              <a:t>Proposed System</a:t>
            </a:r>
          </a:p>
        </p:txBody>
      </p:sp>
      <p:sp>
        <p:nvSpPr>
          <p:cNvPr id="6" name="Rectangle 3">
            <a:extLst>
              <a:ext uri="{FF2B5EF4-FFF2-40B4-BE49-F238E27FC236}">
                <a16:creationId xmlns:a16="http://schemas.microsoft.com/office/drawing/2014/main" id="{DE592053-B456-1375-6825-5B3228956EC5}"/>
              </a:ext>
            </a:extLst>
          </p:cNvPr>
          <p:cNvSpPr>
            <a:spLocks noGrp="1" noChangeArrowheads="1"/>
          </p:cNvSpPr>
          <p:nvPr>
            <p:ph idx="1"/>
          </p:nvPr>
        </p:nvSpPr>
        <p:spPr bwMode="auto">
          <a:xfrm>
            <a:off x="1446028" y="1558300"/>
            <a:ext cx="8824133" cy="4975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Unified Platform Ecosystem:</a:t>
            </a:r>
            <a:r>
              <a:rPr lang="en-US" dirty="0"/>
              <a:t> Seamlessly combines AI career guidance, expert mentorship scheduling, and peer study rooms into one cohesive web application.</a:t>
            </a:r>
          </a:p>
          <a:p>
            <a:r>
              <a:rPr lang="en-US" b="1" dirty="0"/>
              <a:t>AI-Powered Career Bot:</a:t>
            </a:r>
            <a:r>
              <a:rPr lang="en-US" dirty="0"/>
              <a:t> Leverages intelligent analytics to deliver instant, personalized career roadmaps and immediately detailed answers to specific queries.</a:t>
            </a:r>
          </a:p>
          <a:p>
            <a:r>
              <a:rPr lang="en-US" b="1" dirty="0"/>
              <a:t>Interactive Collaboration Rooms:</a:t>
            </a:r>
            <a:r>
              <a:rPr lang="en-US" dirty="0"/>
              <a:t> Provides dynamic, topic-specific virtual spaces that encourage real-time, peer-to-peer studying and knowledge exchange.</a:t>
            </a:r>
          </a:p>
          <a:p>
            <a:r>
              <a:rPr lang="en-US" b="1" dirty="0"/>
              <a:t>Expert Mentorship Module:</a:t>
            </a:r>
            <a:r>
              <a:rPr lang="en-US" dirty="0"/>
              <a:t> Facilitates easy discovery, direct messaging, and secure connection with verified industry professionals for one-on-one guidance.</a:t>
            </a:r>
          </a:p>
          <a:p>
            <a:r>
              <a:rPr lang="en-US" b="1" dirty="0"/>
              <a:t>Secure Integrated Payments:</a:t>
            </a:r>
            <a:r>
              <a:rPr lang="en-US" dirty="0"/>
              <a:t> Streamlines the process of booking premium mentorship sessions via a safe, built-in payment gateway.</a:t>
            </a:r>
          </a:p>
          <a:p>
            <a:pPr marR="0" lvl="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9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ED1F2-8B50-B064-5D9E-6826129C0CB1}"/>
              </a:ext>
            </a:extLst>
          </p:cNvPr>
          <p:cNvSpPr>
            <a:spLocks noGrp="1"/>
          </p:cNvSpPr>
          <p:nvPr>
            <p:ph type="title"/>
          </p:nvPr>
        </p:nvSpPr>
        <p:spPr>
          <a:xfrm>
            <a:off x="2261886" y="387339"/>
            <a:ext cx="10515600" cy="1325563"/>
          </a:xfrm>
        </p:spPr>
        <p:txBody>
          <a:bodyPr>
            <a:normAutofit/>
          </a:bodyPr>
          <a:lstStyle/>
          <a:p>
            <a:r>
              <a:rPr lang="en-US" sz="3400" b="1" dirty="0">
                <a:latin typeface="Times New Roman" panose="02020603050405020304" pitchFamily="18" charset="0"/>
                <a:cs typeface="Times New Roman" panose="02020603050405020304" pitchFamily="18" charset="0"/>
              </a:rPr>
              <a:t>Future Scope</a:t>
            </a:r>
            <a:endParaRPr lang="en-IN" sz="3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E1240A-55AB-D239-6D25-62B41DA3A6A7}"/>
              </a:ext>
            </a:extLst>
          </p:cNvPr>
          <p:cNvSpPr>
            <a:spLocks noGrp="1"/>
          </p:cNvSpPr>
          <p:nvPr>
            <p:ph idx="1"/>
          </p:nvPr>
        </p:nvSpPr>
        <p:spPr>
          <a:xfrm>
            <a:off x="1676400" y="1547832"/>
            <a:ext cx="10515600" cy="4351338"/>
          </a:xfrm>
        </p:spPr>
        <p:txBody>
          <a:bodyPr>
            <a:noAutofit/>
          </a:bodyPr>
          <a:lstStyle/>
          <a:p>
            <a:r>
              <a:rPr lang="en-US" b="1" dirty="0"/>
              <a:t>Real-time Video &amp; Audio:</a:t>
            </a:r>
            <a:r>
              <a:rPr lang="en-US" dirty="0"/>
              <a:t> Upgrading the interactive study rooms with integrated video conferencing, live audio chats, and collaborative digital whiteboards.</a:t>
            </a:r>
          </a:p>
          <a:p>
            <a:endParaRPr lang="en-US" dirty="0"/>
          </a:p>
          <a:p>
            <a:r>
              <a:rPr lang="en-US" b="1" dirty="0"/>
              <a:t>Advanced AI Features:</a:t>
            </a:r>
            <a:r>
              <a:rPr lang="en-US" dirty="0"/>
              <a:t> Expanding the Career Bot capabilities to include automated resume parsing, mock interview simulations, and cover letter generation.</a:t>
            </a:r>
          </a:p>
          <a:p>
            <a:endParaRPr lang="en-US" dirty="0"/>
          </a:p>
          <a:p>
            <a:r>
              <a:rPr lang="en-US" b="1" dirty="0"/>
              <a:t>Native Mobile Application:</a:t>
            </a:r>
            <a:r>
              <a:rPr lang="en-US" dirty="0"/>
              <a:t> Deploying dedicated iOS and Android mobile apps to give users seamless, on-the-go access to mentorship and study tools.</a:t>
            </a:r>
          </a:p>
          <a:p>
            <a:endParaRPr lang="en-US" dirty="0"/>
          </a:p>
          <a:p>
            <a:r>
              <a:rPr lang="en-US" b="1" dirty="0"/>
              <a:t>Corporate Partnerships:</a:t>
            </a:r>
            <a:r>
              <a:rPr lang="en-US" dirty="0"/>
              <a:t> Creating direct integrations with enterprise companies for exclusive job placements, internships, and live project collaborations.</a:t>
            </a:r>
          </a:p>
          <a:p>
            <a:endParaRPr lang="en-US" dirty="0"/>
          </a:p>
          <a:p>
            <a:r>
              <a:rPr lang="en-US" b="1" dirty="0"/>
              <a:t>Global Mentorship Scaling:</a:t>
            </a:r>
            <a:r>
              <a:rPr lang="en-US" dirty="0"/>
              <a:t> Expanding the mentor network internationally by introducing multi-language support and cross-border networking opportunities.</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6074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7AB3-B4E6-D733-C972-0F3029DC3ACC}"/>
              </a:ext>
            </a:extLst>
          </p:cNvPr>
          <p:cNvSpPr>
            <a:spLocks noGrp="1"/>
          </p:cNvSpPr>
          <p:nvPr>
            <p:ph type="title"/>
          </p:nvPr>
        </p:nvSpPr>
        <p:spPr>
          <a:xfrm>
            <a:off x="1676400" y="569151"/>
            <a:ext cx="10515600" cy="1325563"/>
          </a:xfrm>
        </p:spPr>
        <p:txBody>
          <a:bodyPr>
            <a:normAutofit/>
          </a:bodyPr>
          <a:lstStyle/>
          <a:p>
            <a:r>
              <a:rPr lang="en-IN" sz="3400" b="1" dirty="0">
                <a:latin typeface="Times New Roman" panose="02020603050405020304" pitchFamily="18" charset="0"/>
                <a:cs typeface="Times New Roman" panose="02020603050405020304" pitchFamily="18" charset="0"/>
              </a:rPr>
              <a:t>Design</a:t>
            </a:r>
          </a:p>
        </p:txBody>
      </p:sp>
      <p:sp>
        <p:nvSpPr>
          <p:cNvPr id="3" name="Content Placeholder 2">
            <a:extLst>
              <a:ext uri="{FF2B5EF4-FFF2-40B4-BE49-F238E27FC236}">
                <a16:creationId xmlns:a16="http://schemas.microsoft.com/office/drawing/2014/main" id="{588AFA3C-DFB3-B543-F295-F57F6E6C9D09}"/>
              </a:ext>
            </a:extLst>
          </p:cNvPr>
          <p:cNvSpPr>
            <a:spLocks noGrp="1"/>
          </p:cNvSpPr>
          <p:nvPr>
            <p:ph idx="1"/>
          </p:nvPr>
        </p:nvSpPr>
        <p:spPr>
          <a:xfrm>
            <a:off x="757177" y="1231933"/>
            <a:ext cx="10515600" cy="5487171"/>
          </a:xfrm>
        </p:spPr>
        <p:txBody>
          <a:bodyPr>
            <a:noAutofit/>
          </a:bodyPr>
          <a:lstStyle/>
          <a:p>
            <a:r>
              <a:rPr lang="en-US" b="1" dirty="0"/>
              <a:t>Client Interface (Frontend):</a:t>
            </a:r>
            <a:r>
              <a:rPr lang="en-US" dirty="0"/>
              <a:t> Developed with modern React.js, featuring a highly responsive, dynamic UI with smooth micro-animations and an intuitive user experience.</a:t>
            </a:r>
          </a:p>
          <a:p>
            <a:endParaRPr lang="en-US" dirty="0"/>
          </a:p>
          <a:p>
            <a:r>
              <a:rPr lang="en-US" b="1" dirty="0"/>
              <a:t>API Core (Backend):</a:t>
            </a:r>
            <a:r>
              <a:rPr lang="en-US" dirty="0"/>
              <a:t> Built upon a robust, scalable Python framework designed to handle real-time routing, secure JWT authentication, and complex business logic.</a:t>
            </a:r>
          </a:p>
          <a:p>
            <a:endParaRPr lang="en-US" dirty="0"/>
          </a:p>
          <a:p>
            <a:r>
              <a:rPr lang="en-US" b="1" dirty="0"/>
              <a:t>Intelligent AI Layer:</a:t>
            </a:r>
            <a:r>
              <a:rPr lang="en-US" dirty="0"/>
              <a:t> Centralized AI Engine utilizing Natural Language Processing (NLP) to deeply analyze user queries and autonomously generate personalized career roadmaps.</a:t>
            </a:r>
          </a:p>
          <a:p>
            <a:endParaRPr lang="en-US" dirty="0"/>
          </a:p>
          <a:p>
            <a:r>
              <a:rPr lang="en-US" b="1" dirty="0"/>
              <a:t>Database Management (Data Layer):</a:t>
            </a:r>
            <a:r>
              <a:rPr lang="en-US" dirty="0"/>
              <a:t> Powered by an optimized Relational Database (PostgreSQL) architected to securely manage profiles, mentorship connections, and dynamic study room states.</a:t>
            </a:r>
          </a:p>
          <a:p>
            <a:endParaRPr lang="en-US" dirty="0"/>
          </a:p>
          <a:p>
            <a:r>
              <a:rPr lang="en-US" b="1" dirty="0"/>
              <a:t>Integration &amp; Security Protocols:</a:t>
            </a:r>
            <a:r>
              <a:rPr lang="en-US" dirty="0"/>
              <a:t> Features end-to-end encrypted payment gateways for mentorship bookings and strict role-based access controls to protect sensitive student data.</a:t>
            </a:r>
          </a:p>
          <a:p>
            <a:pPr marL="0" indent="0">
              <a:buNone/>
            </a:pP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3446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DE39F8-DAE4-A9C5-D3B4-06A918109F0C}"/>
              </a:ext>
            </a:extLst>
          </p:cNvPr>
          <p:cNvSpPr>
            <a:spLocks noGrp="1"/>
          </p:cNvSpPr>
          <p:nvPr>
            <p:ph idx="1"/>
          </p:nvPr>
        </p:nvSpPr>
        <p:spPr/>
        <p:txBody>
          <a:bodyPr/>
          <a:lstStyle/>
          <a:p>
            <a:r>
              <a:rPr lang="en-IN" dirty="0"/>
              <a:t> </a:t>
            </a:r>
          </a:p>
        </p:txBody>
      </p:sp>
      <p:pic>
        <p:nvPicPr>
          <p:cNvPr id="5" name="Picture 4">
            <a:extLst>
              <a:ext uri="{FF2B5EF4-FFF2-40B4-BE49-F238E27FC236}">
                <a16:creationId xmlns:a16="http://schemas.microsoft.com/office/drawing/2014/main" id="{F5592D2F-BB5C-4E06-1FDB-E7CEC8AAD8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2107" y="0"/>
            <a:ext cx="10979893" cy="6858000"/>
          </a:xfrm>
          <a:prstGeom prst="rect">
            <a:avLst/>
          </a:prstGeom>
        </p:spPr>
      </p:pic>
    </p:spTree>
    <p:extLst>
      <p:ext uri="{BB962C8B-B14F-4D97-AF65-F5344CB8AC3E}">
        <p14:creationId xmlns:p14="http://schemas.microsoft.com/office/powerpoint/2010/main" val="3843936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749AB-CA53-4D88-C3B0-4F4C0CF5747C}"/>
              </a:ext>
            </a:extLst>
          </p:cNvPr>
          <p:cNvSpPr>
            <a:spLocks noGrp="1"/>
          </p:cNvSpPr>
          <p:nvPr>
            <p:ph type="title"/>
          </p:nvPr>
        </p:nvSpPr>
        <p:spPr>
          <a:xfrm>
            <a:off x="1880247" y="729205"/>
            <a:ext cx="10515600" cy="1325563"/>
          </a:xfrm>
        </p:spPr>
        <p:txBody>
          <a:bodyPr>
            <a:normAutofit/>
          </a:bodyPr>
          <a:lstStyle/>
          <a:p>
            <a:r>
              <a:rPr lang="en-IN" sz="3400" b="1" dirty="0">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CE6B6305-BB96-F394-3FFC-A1E994DFB5F7}"/>
              </a:ext>
            </a:extLst>
          </p:cNvPr>
          <p:cNvSpPr>
            <a:spLocks noGrp="1"/>
          </p:cNvSpPr>
          <p:nvPr>
            <p:ph idx="1"/>
          </p:nvPr>
        </p:nvSpPr>
        <p:spPr>
          <a:xfrm>
            <a:off x="1764175" y="1572818"/>
            <a:ext cx="10747744" cy="4730935"/>
          </a:xfrm>
        </p:spPr>
        <p:txBody>
          <a:bodyPr>
            <a:noAutofit/>
          </a:bodyPr>
          <a:lstStyle/>
          <a:p>
            <a:r>
              <a:rPr lang="en-IN" b="1" dirty="0"/>
              <a:t>Hardware Requirements:</a:t>
            </a:r>
            <a:endParaRPr lang="en-IN" dirty="0"/>
          </a:p>
          <a:p>
            <a:pPr lvl="1"/>
            <a:r>
              <a:rPr lang="en-IN" i="1" dirty="0"/>
              <a:t>Minimum:</a:t>
            </a:r>
            <a:r>
              <a:rPr lang="en-IN" dirty="0"/>
              <a:t> Intel i3/AMD </a:t>
            </a:r>
            <a:r>
              <a:rPr lang="en-IN" dirty="0" err="1"/>
              <a:t>Ryzen</a:t>
            </a:r>
            <a:r>
              <a:rPr lang="en-IN" dirty="0"/>
              <a:t> 3, 4GB RAM.</a:t>
            </a:r>
          </a:p>
          <a:p>
            <a:pPr lvl="1"/>
            <a:r>
              <a:rPr lang="en-IN" i="1" dirty="0"/>
              <a:t>Recommended:</a:t>
            </a:r>
            <a:r>
              <a:rPr lang="en-IN" dirty="0"/>
              <a:t> Intel i5/AMD </a:t>
            </a:r>
            <a:r>
              <a:rPr lang="en-IN" dirty="0" err="1"/>
              <a:t>Ryzen</a:t>
            </a:r>
            <a:r>
              <a:rPr lang="en-IN" dirty="0"/>
              <a:t> 5 or higher, 8GB+ RAM.</a:t>
            </a:r>
          </a:p>
          <a:p>
            <a:r>
              <a:rPr lang="en-IN" b="1" dirty="0"/>
              <a:t>Operating System Environment:</a:t>
            </a:r>
            <a:r>
              <a:rPr lang="en-IN" dirty="0"/>
              <a:t> Compatible with Windows 10/11, macOS, and Linux, ensuring cross-platform development ease.</a:t>
            </a:r>
          </a:p>
          <a:p>
            <a:r>
              <a:rPr lang="en-IN" b="1" dirty="0"/>
              <a:t>Development Tools &amp; IDE:</a:t>
            </a:r>
            <a:r>
              <a:rPr lang="en-IN" dirty="0"/>
              <a:t> Developed primarily using </a:t>
            </a:r>
            <a:r>
              <a:rPr lang="en-IN" b="1" dirty="0"/>
              <a:t>Visual Studio Code (VS Code)</a:t>
            </a:r>
            <a:r>
              <a:rPr lang="en-IN" dirty="0"/>
              <a:t>, leveraging extensions for Python, React, and database management.</a:t>
            </a:r>
          </a:p>
          <a:p>
            <a:r>
              <a:rPr lang="en-IN" b="1" dirty="0"/>
              <a:t>Version Control:</a:t>
            </a:r>
            <a:r>
              <a:rPr lang="en-IN" dirty="0"/>
              <a:t> Automated source code management and collaborative teamwork maintained via </a:t>
            </a:r>
            <a:r>
              <a:rPr lang="en-IN" b="1" dirty="0"/>
              <a:t>Git and GitHub</a:t>
            </a:r>
            <a:r>
              <a:rPr lang="en-IN" dirty="0"/>
              <a:t>.</a:t>
            </a:r>
          </a:p>
          <a:p>
            <a:r>
              <a:rPr lang="en-IN" b="1" dirty="0"/>
              <a:t>Deployment Platforms:</a:t>
            </a:r>
            <a:endParaRPr lang="en-IN" dirty="0"/>
          </a:p>
          <a:p>
            <a:pPr lvl="1"/>
            <a:r>
              <a:rPr lang="en-IN" b="1" dirty="0"/>
              <a:t>Frontend Deployment:</a:t>
            </a:r>
            <a:r>
              <a:rPr lang="en-IN" dirty="0"/>
              <a:t> Hosted on </a:t>
            </a:r>
            <a:r>
              <a:rPr lang="en-IN" b="1" dirty="0" err="1"/>
              <a:t>Vercel</a:t>
            </a:r>
            <a:r>
              <a:rPr lang="en-IN" dirty="0"/>
              <a:t> (</a:t>
            </a:r>
            <a:r>
              <a:rPr lang="en-IN" dirty="0" err="1"/>
              <a:t>vercel.json</a:t>
            </a:r>
            <a:r>
              <a:rPr lang="en-IN" dirty="0"/>
              <a:t> configured) for extremely fast global content delivery and continuous integration.</a:t>
            </a:r>
          </a:p>
          <a:p>
            <a:pPr lvl="1"/>
            <a:r>
              <a:rPr lang="en-IN" b="1" dirty="0"/>
              <a:t>Backend Deployment:</a:t>
            </a:r>
            <a:r>
              <a:rPr lang="en-IN" dirty="0"/>
              <a:t> Hosted on </a:t>
            </a:r>
            <a:r>
              <a:rPr lang="en-IN" b="1" dirty="0"/>
              <a:t>Render</a:t>
            </a:r>
            <a:r>
              <a:rPr lang="en-IN" dirty="0"/>
              <a:t> (or similar cloud infrastructure), providing a stable environment for Python API execution.</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2738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6E9C0A-8E59-8304-182D-8A35FCD8C396}"/>
              </a:ext>
            </a:extLst>
          </p:cNvPr>
          <p:cNvSpPr>
            <a:spLocks noGrp="1"/>
          </p:cNvSpPr>
          <p:nvPr>
            <p:ph idx="1"/>
          </p:nvPr>
        </p:nvSpPr>
        <p:spPr>
          <a:xfrm>
            <a:off x="1910080" y="1381760"/>
            <a:ext cx="9594533" cy="4530090"/>
          </a:xfrm>
        </p:spPr>
        <p:txBody>
          <a:bodyPr>
            <a:normAutofit lnSpcReduction="10000"/>
          </a:bodyPr>
          <a:lstStyle/>
          <a:p>
            <a:pPr marL="0" indent="0">
              <a:buNone/>
            </a:pPr>
            <a:r>
              <a:rPr lang="en-US" b="1" dirty="0"/>
              <a:t>Frontend Implementation &amp; Libraries</a:t>
            </a:r>
          </a:p>
          <a:p>
            <a:r>
              <a:rPr lang="en-US" b="1" dirty="0"/>
              <a:t>Technology Stack (What we used):</a:t>
            </a:r>
            <a:r>
              <a:rPr lang="en-US" dirty="0"/>
              <a:t> Built entirely on </a:t>
            </a:r>
            <a:r>
              <a:rPr lang="en-US" b="1" dirty="0"/>
              <a:t>React.js</a:t>
            </a:r>
            <a:r>
              <a:rPr lang="en-US" dirty="0"/>
              <a:t> using the </a:t>
            </a:r>
            <a:r>
              <a:rPr lang="en-US" b="1" dirty="0"/>
              <a:t>Vite</a:t>
            </a:r>
            <a:r>
              <a:rPr lang="en-US" dirty="0"/>
              <a:t> build tool.</a:t>
            </a:r>
          </a:p>
          <a:p>
            <a:r>
              <a:rPr lang="en-US" b="1" dirty="0"/>
              <a:t>How it was implemented:</a:t>
            </a:r>
            <a:endParaRPr lang="en-US" dirty="0"/>
          </a:p>
          <a:p>
            <a:pPr lvl="1"/>
            <a:r>
              <a:rPr lang="en-US" b="1" dirty="0"/>
              <a:t>Component-Based Architecture:</a:t>
            </a:r>
            <a:r>
              <a:rPr lang="en-US" dirty="0"/>
              <a:t> The user interface is broken down into reusable components (e.g., CareerBotTab.jsx, CreateRoomTab.jsx, PaymentModal.jsx) ensuring code maintainability.</a:t>
            </a:r>
          </a:p>
          <a:p>
            <a:pPr lvl="1"/>
            <a:r>
              <a:rPr lang="en-US" b="1" dirty="0"/>
              <a:t>Vite Integration:</a:t>
            </a:r>
            <a:r>
              <a:rPr lang="en-US" dirty="0"/>
              <a:t> Used to drastically significantly improve local server startup speeds and bundle sizes compared to traditional React apps.</a:t>
            </a:r>
          </a:p>
          <a:p>
            <a:pPr lvl="1"/>
            <a:r>
              <a:rPr lang="en-US" b="1" dirty="0"/>
              <a:t>State Management:</a:t>
            </a:r>
            <a:r>
              <a:rPr lang="en-US" dirty="0"/>
              <a:t> Utilized React Hooks (useState, useEffect) to manage dynamic data such as active study rooms, active chats, and mentor availability without needing heavy external libraries.</a:t>
            </a:r>
          </a:p>
          <a:p>
            <a:pPr lvl="1"/>
            <a:r>
              <a:rPr lang="en-US" b="1" dirty="0"/>
              <a:t>Styling Engine:</a:t>
            </a:r>
            <a:r>
              <a:rPr lang="en-US" dirty="0"/>
              <a:t> Hand-coded Vanilla CSS (index.css) utilizing modern UI practices (like glassmorphism and keyframe animations) to create a highly premium, engaging visual aesthetic without the bloat of heavy CSS frameworks</a:t>
            </a:r>
          </a:p>
          <a:p>
            <a:endParaRPr lang="en-IN" dirty="0"/>
          </a:p>
        </p:txBody>
      </p:sp>
    </p:spTree>
    <p:extLst>
      <p:ext uri="{BB962C8B-B14F-4D97-AF65-F5344CB8AC3E}">
        <p14:creationId xmlns:p14="http://schemas.microsoft.com/office/powerpoint/2010/main" val="4058968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EA389-6A35-F67D-87F2-17550306A1AC}"/>
              </a:ext>
            </a:extLst>
          </p:cNvPr>
          <p:cNvSpPr>
            <a:spLocks noGrp="1"/>
          </p:cNvSpPr>
          <p:nvPr>
            <p:ph idx="1"/>
          </p:nvPr>
        </p:nvSpPr>
        <p:spPr>
          <a:xfrm>
            <a:off x="1991360" y="1198880"/>
            <a:ext cx="9513252" cy="4712342"/>
          </a:xfrm>
        </p:spPr>
        <p:txBody>
          <a:bodyPr>
            <a:normAutofit/>
          </a:bodyPr>
          <a:lstStyle/>
          <a:p>
            <a:pPr marL="0" indent="0">
              <a:buNone/>
            </a:pPr>
            <a:r>
              <a:rPr lang="en-US" b="1" dirty="0"/>
              <a:t>Backend Implementation &amp; API Architecture</a:t>
            </a:r>
          </a:p>
          <a:p>
            <a:r>
              <a:rPr lang="en-US" b="1" dirty="0"/>
              <a:t>Technology Stack (What we used):</a:t>
            </a:r>
            <a:r>
              <a:rPr lang="en-US" dirty="0"/>
              <a:t> A robust </a:t>
            </a:r>
            <a:r>
              <a:rPr lang="en-US" b="1" dirty="0"/>
              <a:t>Python</a:t>
            </a:r>
            <a:r>
              <a:rPr lang="en-US" dirty="0"/>
              <a:t> framework (Flask/</a:t>
            </a:r>
            <a:r>
              <a:rPr lang="en-US" dirty="0" err="1"/>
              <a:t>FastAPI</a:t>
            </a:r>
            <a:r>
              <a:rPr lang="en-US" dirty="0"/>
              <a:t>) utilizing a standard Model-View-Controller (MVC) file structure.</a:t>
            </a:r>
          </a:p>
          <a:p>
            <a:r>
              <a:rPr lang="en-US" b="1" dirty="0"/>
              <a:t>How it was implemented:</a:t>
            </a:r>
            <a:endParaRPr lang="en-US" dirty="0"/>
          </a:p>
          <a:p>
            <a:pPr lvl="1"/>
            <a:r>
              <a:rPr lang="en-US" b="1" dirty="0"/>
              <a:t>Modular Routing:</a:t>
            </a:r>
            <a:r>
              <a:rPr lang="en-US" dirty="0"/>
              <a:t> The backend is split into dedicated routes (user_routes.py, room_routes.py, payment_routes.py) and controllers, keeping the API logic extremely organized and scalable.</a:t>
            </a:r>
          </a:p>
          <a:p>
            <a:pPr lvl="1"/>
            <a:r>
              <a:rPr lang="en-US" b="1" dirty="0"/>
              <a:t>JWT Security:</a:t>
            </a:r>
            <a:r>
              <a:rPr lang="en-US" dirty="0"/>
              <a:t> JSON Web Tokens (JWT) are generated upon login, ensuring that every request to join a room or message a mentor is strictly authenticated and validated.</a:t>
            </a:r>
          </a:p>
          <a:p>
            <a:pPr lvl="1"/>
            <a:r>
              <a:rPr lang="en-US" b="1" dirty="0"/>
              <a:t>Payment Gateway APIs:</a:t>
            </a:r>
            <a:r>
              <a:rPr lang="en-US" dirty="0"/>
              <a:t> Integrated secure third-party payment processing logic (payment_controller.py) to handle transactions safely between students and premium mentors.</a:t>
            </a:r>
          </a:p>
          <a:p>
            <a:pPr lvl="1"/>
            <a:r>
              <a:rPr lang="en-US" b="1" dirty="0"/>
              <a:t>Interactive Web Sockets / Polling:</a:t>
            </a:r>
            <a:r>
              <a:rPr lang="en-US" dirty="0"/>
              <a:t> APIs designed to handle real-time or near-real-time updates necessary for live chat routes (chat_routes.py) and interactive room lobbies.</a:t>
            </a:r>
          </a:p>
          <a:p>
            <a:endParaRPr lang="en-IN" dirty="0"/>
          </a:p>
        </p:txBody>
      </p:sp>
    </p:spTree>
    <p:extLst>
      <p:ext uri="{BB962C8B-B14F-4D97-AF65-F5344CB8AC3E}">
        <p14:creationId xmlns:p14="http://schemas.microsoft.com/office/powerpoint/2010/main" val="1352279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308806-5A0B-BA22-610E-718331413298}"/>
              </a:ext>
            </a:extLst>
          </p:cNvPr>
          <p:cNvSpPr>
            <a:spLocks noGrp="1"/>
          </p:cNvSpPr>
          <p:nvPr>
            <p:ph idx="1"/>
          </p:nvPr>
        </p:nvSpPr>
        <p:spPr>
          <a:xfrm>
            <a:off x="1981200" y="995680"/>
            <a:ext cx="9513252" cy="4885062"/>
          </a:xfrm>
        </p:spPr>
        <p:txBody>
          <a:bodyPr>
            <a:normAutofit/>
          </a:bodyPr>
          <a:lstStyle/>
          <a:p>
            <a:pPr marL="0" indent="0">
              <a:buNone/>
            </a:pPr>
            <a:r>
              <a:rPr lang="en-IN" b="1" dirty="0"/>
              <a:t>Database Management &amp; AI Integration</a:t>
            </a:r>
          </a:p>
          <a:p>
            <a:r>
              <a:rPr lang="en-IN" b="1" dirty="0"/>
              <a:t>Database Stack (What we used):</a:t>
            </a:r>
            <a:r>
              <a:rPr lang="en-IN" dirty="0"/>
              <a:t> </a:t>
            </a:r>
            <a:r>
              <a:rPr lang="en-IN" b="1" dirty="0"/>
              <a:t>PostgreSQL</a:t>
            </a:r>
            <a:r>
              <a:rPr lang="en-IN" dirty="0"/>
              <a:t> configured with an Object-Relational Mapper (ORM) system in Python.</a:t>
            </a:r>
          </a:p>
          <a:p>
            <a:r>
              <a:rPr lang="en-IN" b="1" dirty="0"/>
              <a:t>Database Implementation:</a:t>
            </a:r>
            <a:endParaRPr lang="en-IN" dirty="0"/>
          </a:p>
          <a:p>
            <a:pPr lvl="1"/>
            <a:r>
              <a:rPr lang="en-IN" b="1" dirty="0"/>
              <a:t>Schema Design:</a:t>
            </a:r>
            <a:r>
              <a:rPr lang="en-IN" dirty="0"/>
              <a:t> Wrote raw SQL (</a:t>
            </a:r>
            <a:r>
              <a:rPr lang="en-IN" dirty="0" err="1"/>
              <a:t>pgadmin_schema_setup.sql</a:t>
            </a:r>
            <a:r>
              <a:rPr lang="en-IN" dirty="0"/>
              <a:t>) and Python models (models.py) to define strict relationships between Users, Study Rooms, and Mentorship Connections.</a:t>
            </a:r>
          </a:p>
          <a:p>
            <a:pPr lvl="1"/>
            <a:r>
              <a:rPr lang="en-IN" b="1" dirty="0"/>
              <a:t>Version Controlled Migrations:</a:t>
            </a:r>
            <a:r>
              <a:rPr lang="en-IN" dirty="0"/>
              <a:t> Utilized database migration scripts (migrate.py) to safely update database tables without destroying existing user records in production.</a:t>
            </a:r>
          </a:p>
          <a:p>
            <a:r>
              <a:rPr lang="en-IN" b="1" dirty="0"/>
              <a:t>AI Engine Stack (What we used):</a:t>
            </a:r>
            <a:r>
              <a:rPr lang="en-IN" dirty="0"/>
              <a:t> Deep Integration with Large Language Model APIs (e.g., OpenAI / Gemini) for the virtual Career Bot.</a:t>
            </a:r>
          </a:p>
          <a:p>
            <a:r>
              <a:rPr lang="en-IN" b="1" dirty="0"/>
              <a:t>AI Implementation:</a:t>
            </a:r>
            <a:endParaRPr lang="en-IN" dirty="0"/>
          </a:p>
          <a:p>
            <a:pPr lvl="1"/>
            <a:r>
              <a:rPr lang="en-IN" b="1" dirty="0"/>
              <a:t>Custom Prompting:</a:t>
            </a:r>
            <a:r>
              <a:rPr lang="en-IN" dirty="0"/>
              <a:t> Built dedicated AI service logic (ai_bot.py) that feeds context (such as user skills and career_docs.txt) into the LLM logic, ensuring the Bot's responses are specifically aligned with career guidance, not just general chat.</a:t>
            </a:r>
          </a:p>
          <a:p>
            <a:endParaRPr lang="en-IN" dirty="0"/>
          </a:p>
        </p:txBody>
      </p:sp>
    </p:spTree>
    <p:extLst>
      <p:ext uri="{BB962C8B-B14F-4D97-AF65-F5344CB8AC3E}">
        <p14:creationId xmlns:p14="http://schemas.microsoft.com/office/powerpoint/2010/main" val="3225861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C46F5-FF7B-8721-2C68-B4B29B08D4BE}"/>
              </a:ext>
            </a:extLst>
          </p:cNvPr>
          <p:cNvSpPr>
            <a:spLocks noGrp="1"/>
          </p:cNvSpPr>
          <p:nvPr>
            <p:ph type="title"/>
          </p:nvPr>
        </p:nvSpPr>
        <p:spPr/>
        <p:txBody>
          <a:bodyPr/>
          <a:lstStyle/>
          <a:p>
            <a:r>
              <a:rPr lang="en-IN" dirty="0"/>
              <a:t>Results</a:t>
            </a:r>
          </a:p>
        </p:txBody>
      </p:sp>
      <p:sp>
        <p:nvSpPr>
          <p:cNvPr id="3" name="Content Placeholder 2">
            <a:extLst>
              <a:ext uri="{FF2B5EF4-FFF2-40B4-BE49-F238E27FC236}">
                <a16:creationId xmlns:a16="http://schemas.microsoft.com/office/drawing/2014/main" id="{1A3E8D12-0BEE-55AE-7C82-303295282AFF}"/>
              </a:ext>
            </a:extLst>
          </p:cNvPr>
          <p:cNvSpPr>
            <a:spLocks noGrp="1"/>
          </p:cNvSpPr>
          <p:nvPr>
            <p:ph idx="1"/>
          </p:nvPr>
        </p:nvSpPr>
        <p:spPr>
          <a:xfrm>
            <a:off x="2032000" y="1259840"/>
            <a:ext cx="9472612" cy="5110480"/>
          </a:xfrm>
        </p:spPr>
        <p:txBody>
          <a:bodyPr/>
          <a:lstStyle/>
          <a:p>
            <a:pPr marL="0" indent="0">
              <a:buNone/>
            </a:pPr>
            <a:r>
              <a:rPr lang="en-US" b="1" dirty="0"/>
              <a:t>1.</a:t>
            </a:r>
            <a:r>
              <a:rPr lang="en-US" dirty="0"/>
              <a:t> </a:t>
            </a:r>
            <a:r>
              <a:rPr lang="en-US" b="1" dirty="0"/>
              <a:t>Secure Login and Registration Portal</a:t>
            </a:r>
          </a:p>
          <a:p>
            <a:r>
              <a:rPr lang="en-US" dirty="0"/>
              <a:t>The authentication screen provides a split-screen layout combining platform branding with a clean login form. Users can securely sign in or register with email and password credentials protected by JWT-based session management.</a:t>
            </a:r>
          </a:p>
          <a:p>
            <a:pPr marL="0" indent="0">
              <a:buNone/>
            </a:pPr>
            <a:r>
              <a:rPr lang="en-US" dirty="0"/>
              <a:t> </a:t>
            </a:r>
          </a:p>
          <a:p>
            <a:r>
              <a:rPr lang="en-US" dirty="0"/>
              <a:t>          </a:t>
            </a:r>
          </a:p>
          <a:p>
            <a:endParaRPr lang="en-US" dirty="0"/>
          </a:p>
          <a:p>
            <a:endParaRPr lang="en-US" dirty="0"/>
          </a:p>
          <a:p>
            <a:endParaRPr lang="en-US" dirty="0"/>
          </a:p>
          <a:p>
            <a:endParaRPr lang="en-US" dirty="0"/>
          </a:p>
          <a:p>
            <a:pPr marL="0" indent="0">
              <a:buNone/>
            </a:pPr>
            <a:r>
              <a:rPr lang="en-US" dirty="0"/>
              <a:t>                      </a:t>
            </a:r>
          </a:p>
          <a:p>
            <a:pPr marL="0" indent="0">
              <a:buNone/>
            </a:pPr>
            <a:r>
              <a:rPr lang="en-US" dirty="0"/>
              <a:t>                          Figure 9.1: User Authentication Interface</a:t>
            </a:r>
            <a:endParaRPr lang="en-IN" dirty="0"/>
          </a:p>
        </p:txBody>
      </p:sp>
      <p:pic>
        <p:nvPicPr>
          <p:cNvPr id="15" name="Picture 14">
            <a:extLst>
              <a:ext uri="{FF2B5EF4-FFF2-40B4-BE49-F238E27FC236}">
                <a16:creationId xmlns:a16="http://schemas.microsoft.com/office/drawing/2014/main" id="{EAFF7207-92FC-392C-E10E-470C3D9A1F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2160" y="2948897"/>
            <a:ext cx="6705600" cy="2466383"/>
          </a:xfrm>
          <a:prstGeom prst="rect">
            <a:avLst/>
          </a:prstGeom>
        </p:spPr>
      </p:pic>
    </p:spTree>
    <p:extLst>
      <p:ext uri="{BB962C8B-B14F-4D97-AF65-F5344CB8AC3E}">
        <p14:creationId xmlns:p14="http://schemas.microsoft.com/office/powerpoint/2010/main" val="1304717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7C4A73-0D1D-1367-7D21-F056012C2A1D}"/>
              </a:ext>
            </a:extLst>
          </p:cNvPr>
          <p:cNvSpPr>
            <a:spLocks noGrp="1"/>
          </p:cNvSpPr>
          <p:nvPr>
            <p:ph idx="1"/>
          </p:nvPr>
        </p:nvSpPr>
        <p:spPr>
          <a:xfrm>
            <a:off x="1940560" y="833120"/>
            <a:ext cx="9564052" cy="5283200"/>
          </a:xfrm>
        </p:spPr>
        <p:txBody>
          <a:bodyPr/>
          <a:lstStyle/>
          <a:p>
            <a:pPr marL="0" indent="0">
              <a:buNone/>
            </a:pPr>
            <a:r>
              <a:rPr lang="en-US" b="1" dirty="0"/>
              <a:t>2. Centralized Study Room Hub</a:t>
            </a:r>
          </a:p>
          <a:p>
            <a:r>
              <a:rPr lang="en-US" dirty="0"/>
              <a:t>The student dashboard displays all available study rooms with member counts and join options. Students can browse and request access to subject-specific collaborative spaces from a single centralized interface.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Figure 9.2: Centralized Study Room Hub</a:t>
            </a:r>
            <a:endParaRPr lang="en-IN" dirty="0"/>
          </a:p>
        </p:txBody>
      </p:sp>
      <p:pic>
        <p:nvPicPr>
          <p:cNvPr id="5" name="Picture 4">
            <a:extLst>
              <a:ext uri="{FF2B5EF4-FFF2-40B4-BE49-F238E27FC236}">
                <a16:creationId xmlns:a16="http://schemas.microsoft.com/office/drawing/2014/main" id="{B4E35B59-1917-7DEE-121A-69AC4EB25B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0320" y="2567865"/>
            <a:ext cx="6075679" cy="2827095"/>
          </a:xfrm>
          <a:prstGeom prst="rect">
            <a:avLst/>
          </a:prstGeom>
        </p:spPr>
      </p:pic>
    </p:spTree>
    <p:extLst>
      <p:ext uri="{BB962C8B-B14F-4D97-AF65-F5344CB8AC3E}">
        <p14:creationId xmlns:p14="http://schemas.microsoft.com/office/powerpoint/2010/main" val="2502951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F4CD89-0AF2-0AF0-6D5F-B755AC59B241}"/>
              </a:ext>
            </a:extLst>
          </p:cNvPr>
          <p:cNvSpPr>
            <a:spLocks noGrp="1"/>
          </p:cNvSpPr>
          <p:nvPr>
            <p:ph idx="1"/>
          </p:nvPr>
        </p:nvSpPr>
        <p:spPr>
          <a:xfrm>
            <a:off x="2011680" y="1036320"/>
            <a:ext cx="9035732" cy="5100320"/>
          </a:xfrm>
        </p:spPr>
        <p:txBody>
          <a:bodyPr/>
          <a:lstStyle/>
          <a:p>
            <a:r>
              <a:rPr lang="en-US" b="1" dirty="0"/>
              <a:t>3. Mentor Exploration and Connection Interface</a:t>
            </a:r>
          </a:p>
          <a:p>
            <a:r>
              <a:rPr lang="en-US" dirty="0"/>
              <a:t>The Find Mentor module lists registered mentors with their profiles, per-minute pricing, and available discounts. Students can initiate a connection request directly from the card, triggering a mentor approval workflow.</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r>
              <a:rPr lang="en-US" dirty="0"/>
              <a:t>                    Figure 9.3: Mentor Discovery Model</a:t>
            </a:r>
          </a:p>
          <a:p>
            <a:endParaRPr lang="en-IN" dirty="0"/>
          </a:p>
        </p:txBody>
      </p:sp>
      <p:pic>
        <p:nvPicPr>
          <p:cNvPr id="5" name="Picture 4">
            <a:extLst>
              <a:ext uri="{FF2B5EF4-FFF2-40B4-BE49-F238E27FC236}">
                <a16:creationId xmlns:a16="http://schemas.microsoft.com/office/drawing/2014/main" id="{7FF04A72-761B-935E-6CE9-C98543249D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5920" y="2605968"/>
            <a:ext cx="5445760" cy="2860112"/>
          </a:xfrm>
          <a:prstGeom prst="rect">
            <a:avLst/>
          </a:prstGeom>
        </p:spPr>
      </p:pic>
    </p:spTree>
    <p:extLst>
      <p:ext uri="{BB962C8B-B14F-4D97-AF65-F5344CB8AC3E}">
        <p14:creationId xmlns:p14="http://schemas.microsoft.com/office/powerpoint/2010/main" val="3166154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581D67-7219-8DEA-69F1-32D1B08C12CA}"/>
              </a:ext>
            </a:extLst>
          </p:cNvPr>
          <p:cNvSpPr>
            <a:spLocks noGrp="1"/>
          </p:cNvSpPr>
          <p:nvPr>
            <p:ph idx="1"/>
          </p:nvPr>
        </p:nvSpPr>
        <p:spPr>
          <a:xfrm>
            <a:off x="1564640" y="782320"/>
            <a:ext cx="9939972" cy="5128902"/>
          </a:xfrm>
        </p:spPr>
        <p:txBody>
          <a:bodyPr>
            <a:normAutofit lnSpcReduction="10000"/>
          </a:bodyPr>
          <a:lstStyle/>
          <a:p>
            <a:pPr marL="0" indent="0">
              <a:buNone/>
            </a:pPr>
            <a:r>
              <a:rPr lang="en-US" b="1" dirty="0"/>
              <a:t>4. Intelligent Career Navigator Chatbot</a:t>
            </a:r>
          </a:p>
          <a:p>
            <a:r>
              <a:rPr lang="en-US" dirty="0"/>
              <a:t>The Career Navigator AI bot combines a curated career knowledge base with the Grok AI API to answer student queries on career paths, learning roadmaps, and skill development. The interface supports both free-form input and quick-prompt suggestions.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endParaRPr lang="en-US" dirty="0"/>
          </a:p>
          <a:p>
            <a:pPr marL="0" indent="0">
              <a:buNone/>
            </a:pPr>
            <a:r>
              <a:rPr lang="en-US" dirty="0"/>
              <a:t>                         Figure 9.4: Ai Career Bot</a:t>
            </a:r>
          </a:p>
          <a:p>
            <a:endParaRPr lang="en-IN" dirty="0"/>
          </a:p>
        </p:txBody>
      </p:sp>
      <p:pic>
        <p:nvPicPr>
          <p:cNvPr id="5" name="Picture 4">
            <a:extLst>
              <a:ext uri="{FF2B5EF4-FFF2-40B4-BE49-F238E27FC236}">
                <a16:creationId xmlns:a16="http://schemas.microsoft.com/office/drawing/2014/main" id="{D5C9C6B4-9977-B4AB-62B7-7E5BFA0F49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9880" y="2336801"/>
            <a:ext cx="5869080" cy="2885440"/>
          </a:xfrm>
          <a:prstGeom prst="rect">
            <a:avLst/>
          </a:prstGeom>
        </p:spPr>
      </p:pic>
    </p:spTree>
    <p:extLst>
      <p:ext uri="{BB962C8B-B14F-4D97-AF65-F5344CB8AC3E}">
        <p14:creationId xmlns:p14="http://schemas.microsoft.com/office/powerpoint/2010/main" val="3027354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FDD97B-3A62-7044-474B-4C80749980D8}"/>
              </a:ext>
            </a:extLst>
          </p:cNvPr>
          <p:cNvSpPr>
            <a:spLocks noGrp="1"/>
          </p:cNvSpPr>
          <p:nvPr>
            <p:ph idx="1"/>
          </p:nvPr>
        </p:nvSpPr>
        <p:spPr>
          <a:xfrm>
            <a:off x="2011680" y="782320"/>
            <a:ext cx="9492932" cy="5128902"/>
          </a:xfrm>
        </p:spPr>
        <p:txBody>
          <a:bodyPr/>
          <a:lstStyle/>
          <a:p>
            <a:pPr marL="0" indent="0">
              <a:buNone/>
            </a:pPr>
            <a:r>
              <a:rPr lang="en-US" b="1" dirty="0"/>
              <a:t>5. </a:t>
            </a:r>
            <a:r>
              <a:rPr lang="en-US" b="1" dirty="0" err="1"/>
              <a:t>Collabrative</a:t>
            </a:r>
            <a:r>
              <a:rPr lang="en-US" b="1" dirty="0"/>
              <a:t> Study Room Creation</a:t>
            </a:r>
          </a:p>
          <a:p>
            <a:r>
              <a:rPr lang="en-US" dirty="0"/>
              <a:t>The Create Room panel allows students to form subject-based study groups by entering a topic and optional description. Once created, the room becomes discoverable and joinable by other students on the platform.</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Figure 9.5: Create Study Room</a:t>
            </a:r>
          </a:p>
        </p:txBody>
      </p:sp>
      <p:pic>
        <p:nvPicPr>
          <p:cNvPr id="5" name="Picture 4">
            <a:extLst>
              <a:ext uri="{FF2B5EF4-FFF2-40B4-BE49-F238E27FC236}">
                <a16:creationId xmlns:a16="http://schemas.microsoft.com/office/drawing/2014/main" id="{317D6F58-187B-9A0F-E70D-F8C59294B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3360" y="2133600"/>
            <a:ext cx="6360159" cy="3230880"/>
          </a:xfrm>
          <a:prstGeom prst="rect">
            <a:avLst/>
          </a:prstGeom>
        </p:spPr>
      </p:pic>
    </p:spTree>
    <p:extLst>
      <p:ext uri="{BB962C8B-B14F-4D97-AF65-F5344CB8AC3E}">
        <p14:creationId xmlns:p14="http://schemas.microsoft.com/office/powerpoint/2010/main" val="1464087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7A499A-3C92-6598-23DD-11AE3A4836BB}"/>
              </a:ext>
            </a:extLst>
          </p:cNvPr>
          <p:cNvSpPr>
            <a:spLocks noGrp="1"/>
          </p:cNvSpPr>
          <p:nvPr>
            <p:ph idx="1"/>
          </p:nvPr>
        </p:nvSpPr>
        <p:spPr>
          <a:xfrm>
            <a:off x="1869440" y="822960"/>
            <a:ext cx="9635172" cy="5088262"/>
          </a:xfrm>
        </p:spPr>
        <p:txBody>
          <a:bodyPr/>
          <a:lstStyle/>
          <a:p>
            <a:pPr marL="0" indent="0">
              <a:buNone/>
            </a:pPr>
            <a:r>
              <a:rPr lang="en-US" b="1" dirty="0"/>
              <a:t>6. Payment to Mentors</a:t>
            </a:r>
          </a:p>
          <a:p>
            <a:r>
              <a:rPr lang="en-US" dirty="0"/>
              <a:t>Student can connect to mentor and get there </a:t>
            </a:r>
            <a:r>
              <a:rPr lang="en-US" dirty="0" err="1"/>
              <a:t>benfits</a:t>
            </a:r>
            <a:r>
              <a:rPr lang="en-US" dirty="0"/>
              <a:t> once they pay the charge of mentor</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Figure 9.6: payment using </a:t>
            </a:r>
            <a:r>
              <a:rPr lang="en-US" dirty="0" err="1"/>
              <a:t>razorpay</a:t>
            </a:r>
            <a:endParaRPr lang="en-US" dirty="0"/>
          </a:p>
          <a:p>
            <a:endParaRPr lang="en-IN" dirty="0"/>
          </a:p>
        </p:txBody>
      </p:sp>
      <p:pic>
        <p:nvPicPr>
          <p:cNvPr id="5" name="Picture 4">
            <a:extLst>
              <a:ext uri="{FF2B5EF4-FFF2-40B4-BE49-F238E27FC236}">
                <a16:creationId xmlns:a16="http://schemas.microsoft.com/office/drawing/2014/main" id="{1AA511B2-AE1A-7315-1F6A-E858E2A90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2113280"/>
            <a:ext cx="6593839" cy="3210560"/>
          </a:xfrm>
          <a:prstGeom prst="rect">
            <a:avLst/>
          </a:prstGeom>
        </p:spPr>
      </p:pic>
    </p:spTree>
    <p:extLst>
      <p:ext uri="{BB962C8B-B14F-4D97-AF65-F5344CB8AC3E}">
        <p14:creationId xmlns:p14="http://schemas.microsoft.com/office/powerpoint/2010/main" val="2223195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234057-ED49-40AA-C3D5-0D2416CBF728}"/>
              </a:ext>
            </a:extLst>
          </p:cNvPr>
          <p:cNvSpPr>
            <a:spLocks noGrp="1"/>
          </p:cNvSpPr>
          <p:nvPr>
            <p:ph idx="1"/>
          </p:nvPr>
        </p:nvSpPr>
        <p:spPr>
          <a:xfrm>
            <a:off x="1584960" y="579120"/>
            <a:ext cx="9919652" cy="5332102"/>
          </a:xfrm>
        </p:spPr>
        <p:txBody>
          <a:bodyPr>
            <a:normAutofit lnSpcReduction="10000"/>
          </a:bodyPr>
          <a:lstStyle/>
          <a:p>
            <a:endParaRPr lang="en-US" dirty="0"/>
          </a:p>
          <a:p>
            <a:pPr marL="0" indent="0">
              <a:buNone/>
            </a:pPr>
            <a:r>
              <a:rPr lang="en-US" b="1" dirty="0"/>
              <a:t>7. Availability of Room</a:t>
            </a:r>
          </a:p>
          <a:p>
            <a:r>
              <a:rPr lang="en-US" dirty="0"/>
              <a:t>They can use the following like </a:t>
            </a:r>
            <a:r>
              <a:rPr lang="en-US" dirty="0" err="1"/>
              <a:t>chat,tasks,members,meet</a:t>
            </a:r>
            <a:r>
              <a:rPr lang="en-US" dirty="0"/>
              <a:t> in the room.</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Figure 9.7: In room features</a:t>
            </a:r>
          </a:p>
          <a:p>
            <a:endParaRPr lang="en-IN" dirty="0"/>
          </a:p>
        </p:txBody>
      </p:sp>
      <p:pic>
        <p:nvPicPr>
          <p:cNvPr id="5" name="Picture 4">
            <a:extLst>
              <a:ext uri="{FF2B5EF4-FFF2-40B4-BE49-F238E27FC236}">
                <a16:creationId xmlns:a16="http://schemas.microsoft.com/office/drawing/2014/main" id="{536A9CB6-AE13-8290-33CB-A328E3DAE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2960" y="1998088"/>
            <a:ext cx="7284719" cy="3335912"/>
          </a:xfrm>
          <a:prstGeom prst="rect">
            <a:avLst/>
          </a:prstGeom>
        </p:spPr>
      </p:pic>
    </p:spTree>
    <p:extLst>
      <p:ext uri="{BB962C8B-B14F-4D97-AF65-F5344CB8AC3E}">
        <p14:creationId xmlns:p14="http://schemas.microsoft.com/office/powerpoint/2010/main" val="2498727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5438B-88CF-09B3-9FA9-23DCAEBD1C9D}"/>
              </a:ext>
            </a:extLst>
          </p:cNvPr>
          <p:cNvSpPr>
            <a:spLocks noGrp="1"/>
          </p:cNvSpPr>
          <p:nvPr>
            <p:ph type="title"/>
          </p:nvPr>
        </p:nvSpPr>
        <p:spPr/>
        <p:txBody>
          <a:bodyPr>
            <a:normAutofit/>
          </a:bodyPr>
          <a:lstStyle/>
          <a:p>
            <a:r>
              <a:rPr lang="en-IN" sz="34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7CE0F09A-360F-0FEE-1AFD-C9F8FC529A2D}"/>
              </a:ext>
            </a:extLst>
          </p:cNvPr>
          <p:cNvSpPr>
            <a:spLocks noGrp="1"/>
          </p:cNvSpPr>
          <p:nvPr>
            <p:ph idx="1"/>
          </p:nvPr>
        </p:nvSpPr>
        <p:spPr>
          <a:xfrm>
            <a:off x="2265680" y="1605280"/>
            <a:ext cx="9238932" cy="4305942"/>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In academic and professional environments, students and teams lack an integrated system that supports effective collaboration, structured knowledge sharing, and personalized AI career guidance. Existing platforms provide only basic communication tools or generic career suggestions, while knowledge remains scattered and does not support intelligent </a:t>
            </a:r>
            <a:r>
              <a:rPr lang="en-US" sz="2400" dirty="0" err="1">
                <a:latin typeface="Times New Roman" panose="02020603050405020304" pitchFamily="18" charset="0"/>
                <a:cs typeface="Times New Roman" panose="02020603050405020304" pitchFamily="18" charset="0"/>
              </a:rPr>
              <a:t>retrieval.To</a:t>
            </a:r>
            <a:r>
              <a:rPr lang="en-US" sz="2400" dirty="0">
                <a:latin typeface="Times New Roman" panose="02020603050405020304" pitchFamily="18" charset="0"/>
                <a:cs typeface="Times New Roman" panose="02020603050405020304" pitchFamily="18" charset="0"/>
              </a:rPr>
              <a:t> overcome these limitations, this project aims to develop an AI-driven team collaboration platform that centralizes knowledge, enables intelligent semantic retrieval, and provides personalized AI career guidance and adaptive learning recommendations within a unified and scalable system.</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3694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297B4F-43BB-4E4F-ACBA-91F933FC5518}"/>
              </a:ext>
            </a:extLst>
          </p:cNvPr>
          <p:cNvSpPr txBox="1"/>
          <p:nvPr/>
        </p:nvSpPr>
        <p:spPr>
          <a:xfrm>
            <a:off x="2658140" y="2052084"/>
            <a:ext cx="8155172" cy="1692771"/>
          </a:xfrm>
          <a:prstGeom prst="rect">
            <a:avLst/>
          </a:prstGeom>
          <a:noFill/>
        </p:spPr>
        <p:txBody>
          <a:bodyPr wrap="square" rtlCol="0">
            <a:spAutoFit/>
          </a:bodyPr>
          <a:lstStyle/>
          <a:p>
            <a:r>
              <a:rPr lang="en-IN" sz="3400" b="1" dirty="0">
                <a:latin typeface="Times New Roman" panose="02020603050405020304" pitchFamily="18" charset="0"/>
                <a:cs typeface="Times New Roman" panose="02020603050405020304" pitchFamily="18" charset="0"/>
              </a:rPr>
              <a:t>Thank you</a:t>
            </a:r>
          </a:p>
          <a:p>
            <a:endParaRPr lang="en-IN" dirty="0"/>
          </a:p>
          <a:p>
            <a:endParaRPr lang="en-IN" dirty="0"/>
          </a:p>
          <a:p>
            <a:pPr algn="r"/>
            <a:r>
              <a:rPr lang="en-IN" dirty="0"/>
              <a:t>                      </a:t>
            </a:r>
            <a:r>
              <a:rPr lang="en-IN" sz="3400" b="1" dirty="0">
                <a:latin typeface="Times New Roman" panose="02020603050405020304" pitchFamily="18" charset="0"/>
                <a:cs typeface="Times New Roman" panose="02020603050405020304" pitchFamily="18" charset="0"/>
              </a:rPr>
              <a:t>Ready to Answer the Queries</a:t>
            </a:r>
          </a:p>
        </p:txBody>
      </p:sp>
    </p:spTree>
    <p:extLst>
      <p:ext uri="{BB962C8B-B14F-4D97-AF65-F5344CB8AC3E}">
        <p14:creationId xmlns:p14="http://schemas.microsoft.com/office/powerpoint/2010/main" val="107888777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1248</TotalTime>
  <Words>1783</Words>
  <Application>Microsoft Office PowerPoint</Application>
  <PresentationFormat>Widescreen</PresentationFormat>
  <Paragraphs>174</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Century Gothic</vt:lpstr>
      <vt:lpstr>Times New Roman</vt:lpstr>
      <vt:lpstr>Times New Roman Bold</vt:lpstr>
      <vt:lpstr>Wingdings 3</vt:lpstr>
      <vt:lpstr>Wisp</vt:lpstr>
      <vt:lpstr>Smart Collaboration And Career Guidance System</vt:lpstr>
      <vt:lpstr>Table of contents</vt:lpstr>
      <vt:lpstr>Abstract</vt:lpstr>
      <vt:lpstr>Existing  System</vt:lpstr>
      <vt:lpstr>Proposed System</vt:lpstr>
      <vt:lpstr>Future Scope</vt:lpstr>
      <vt:lpstr>Design</vt:lpstr>
      <vt:lpstr>PowerPoint Presentation</vt:lpstr>
      <vt:lpstr>Implementation</vt:lpstr>
      <vt:lpstr>PowerPoint Presentation</vt:lpstr>
      <vt:lpstr>PowerPoint Presentation</vt:lpstr>
      <vt:lpstr>PowerPoint Presentation</vt:lpstr>
      <vt:lpstr>Results</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Harya vardhan Marepalli</dc:creator>
  <cp:lastModifiedBy>Harya vardhan Marepalli</cp:lastModifiedBy>
  <cp:revision>28</cp:revision>
  <dcterms:created xsi:type="dcterms:W3CDTF">2026-02-24T03:07:55Z</dcterms:created>
  <dcterms:modified xsi:type="dcterms:W3CDTF">2026-04-20T03:58:51Z</dcterms:modified>
</cp:coreProperties>
</file>